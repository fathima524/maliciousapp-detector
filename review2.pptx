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9"/>
  </p:notesMasterIdLst>
  <p:sldIdLst>
    <p:sldId id="256" r:id="rId2"/>
    <p:sldId id="257" r:id="rId3"/>
    <p:sldId id="269" r:id="rId4"/>
    <p:sldId id="280" r:id="rId5"/>
    <p:sldId id="281" r:id="rId6"/>
    <p:sldId id="289" r:id="rId7"/>
    <p:sldId id="288" r:id="rId8"/>
    <p:sldId id="282" r:id="rId9"/>
    <p:sldId id="283" r:id="rId10"/>
    <p:sldId id="287" r:id="rId11"/>
    <p:sldId id="284" r:id="rId12"/>
    <p:sldId id="285" r:id="rId13"/>
    <p:sldId id="286" r:id="rId14"/>
    <p:sldId id="272" r:id="rId15"/>
    <p:sldId id="270" r:id="rId16"/>
    <p:sldId id="265" r:id="rId17"/>
    <p:sldId id="26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F0E659-000A-42F8-A119-7C3AC2BBB013}" v="12" dt="2025-09-11T08:03:54.432"/>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50" autoAdjust="0"/>
    <p:restoredTop sz="94660"/>
  </p:normalViewPr>
  <p:slideViewPr>
    <p:cSldViewPr snapToGrid="0">
      <p:cViewPr>
        <p:scale>
          <a:sx n="51" d="100"/>
          <a:sy n="51" d="100"/>
        </p:scale>
        <p:origin x="29" y="6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isha N" userId="c031b77b5c5c6501" providerId="LiveId" clId="{D07E778D-A9A4-4B2B-B582-7DA29188D938}"/>
    <pc:docChg chg="undo custSel addSld modSld">
      <pc:chgData name="Tanisha N" userId="c031b77b5c5c6501" providerId="LiveId" clId="{D07E778D-A9A4-4B2B-B582-7DA29188D938}" dt="2025-09-11T08:04:25.946" v="283" actId="20577"/>
      <pc:docMkLst>
        <pc:docMk/>
      </pc:docMkLst>
      <pc:sldChg chg="modSp mod">
        <pc:chgData name="Tanisha N" userId="c031b77b5c5c6501" providerId="LiveId" clId="{D07E778D-A9A4-4B2B-B582-7DA29188D938}" dt="2025-09-11T08:02:08.854" v="169" actId="11"/>
        <pc:sldMkLst>
          <pc:docMk/>
          <pc:sldMk cId="0" sldId="265"/>
        </pc:sldMkLst>
        <pc:spChg chg="mod">
          <ac:chgData name="Tanisha N" userId="c031b77b5c5c6501" providerId="LiveId" clId="{D07E778D-A9A4-4B2B-B582-7DA29188D938}" dt="2025-09-11T08:02:08.854" v="169" actId="11"/>
          <ac:spMkLst>
            <pc:docMk/>
            <pc:sldMk cId="0" sldId="265"/>
            <ac:spMk id="145" creationId="{00000000-0000-0000-0000-000000000000}"/>
          </ac:spMkLst>
        </pc:spChg>
      </pc:sldChg>
      <pc:sldChg chg="modSp mod">
        <pc:chgData name="Tanisha N" userId="c031b77b5c5c6501" providerId="LiveId" clId="{D07E778D-A9A4-4B2B-B582-7DA29188D938}" dt="2025-09-11T08:03:36.714" v="273" actId="20577"/>
        <pc:sldMkLst>
          <pc:docMk/>
          <pc:sldMk cId="1598174920" sldId="281"/>
        </pc:sldMkLst>
        <pc:spChg chg="mod">
          <ac:chgData name="Tanisha N" userId="c031b77b5c5c6501" providerId="LiveId" clId="{D07E778D-A9A4-4B2B-B582-7DA29188D938}" dt="2025-09-11T08:03:36.714" v="273" actId="20577"/>
          <ac:spMkLst>
            <pc:docMk/>
            <pc:sldMk cId="1598174920" sldId="281"/>
            <ac:spMk id="96" creationId="{CBA48538-D76B-E68E-62AA-AB6A3E0D6BCB}"/>
          </ac:spMkLst>
        </pc:spChg>
        <pc:spChg chg="mod">
          <ac:chgData name="Tanisha N" userId="c031b77b5c5c6501" providerId="LiveId" clId="{D07E778D-A9A4-4B2B-B582-7DA29188D938}" dt="2025-09-11T08:03:24.171" v="245" actId="27636"/>
          <ac:spMkLst>
            <pc:docMk/>
            <pc:sldMk cId="1598174920" sldId="281"/>
            <ac:spMk id="97" creationId="{788EDFD7-3BB7-2DE4-C46E-4FB10CE7D7C6}"/>
          </ac:spMkLst>
        </pc:spChg>
      </pc:sldChg>
      <pc:sldChg chg="modSp mod">
        <pc:chgData name="Tanisha N" userId="c031b77b5c5c6501" providerId="LiveId" clId="{D07E778D-A9A4-4B2B-B582-7DA29188D938}" dt="2025-09-11T08:04:25.946" v="283" actId="20577"/>
        <pc:sldMkLst>
          <pc:docMk/>
          <pc:sldMk cId="4270758529" sldId="285"/>
        </pc:sldMkLst>
        <pc:spChg chg="mod">
          <ac:chgData name="Tanisha N" userId="c031b77b5c5c6501" providerId="LiveId" clId="{D07E778D-A9A4-4B2B-B582-7DA29188D938}" dt="2025-09-11T08:04:25.946" v="283" actId="20577"/>
          <ac:spMkLst>
            <pc:docMk/>
            <pc:sldMk cId="4270758529" sldId="285"/>
            <ac:spMk id="96" creationId="{3B49C3A2-39C7-5589-4380-5AE9EBFBDADD}"/>
          </ac:spMkLst>
        </pc:spChg>
      </pc:sldChg>
      <pc:sldChg chg="modSp mod">
        <pc:chgData name="Tanisha N" userId="c031b77b5c5c6501" providerId="LiveId" clId="{D07E778D-A9A4-4B2B-B582-7DA29188D938}" dt="2025-09-11T07:58:45.837" v="89" actId="27636"/>
        <pc:sldMkLst>
          <pc:docMk/>
          <pc:sldMk cId="2651641451" sldId="288"/>
        </pc:sldMkLst>
        <pc:spChg chg="mod">
          <ac:chgData name="Tanisha N" userId="c031b77b5c5c6501" providerId="LiveId" clId="{D07E778D-A9A4-4B2B-B582-7DA29188D938}" dt="2025-09-11T07:58:45.837" v="89" actId="27636"/>
          <ac:spMkLst>
            <pc:docMk/>
            <pc:sldMk cId="2651641451" sldId="288"/>
            <ac:spMk id="97" creationId="{4A57345E-DBFE-D3BE-F810-04154BE42AD0}"/>
          </ac:spMkLst>
        </pc:spChg>
      </pc:sldChg>
      <pc:sldChg chg="modSp add mod">
        <pc:chgData name="Tanisha N" userId="c031b77b5c5c6501" providerId="LiveId" clId="{D07E778D-A9A4-4B2B-B582-7DA29188D938}" dt="2025-09-11T08:03:52.190" v="276"/>
        <pc:sldMkLst>
          <pc:docMk/>
          <pc:sldMk cId="3458043025" sldId="289"/>
        </pc:sldMkLst>
        <pc:spChg chg="mod">
          <ac:chgData name="Tanisha N" userId="c031b77b5c5c6501" providerId="LiveId" clId="{D07E778D-A9A4-4B2B-B582-7DA29188D938}" dt="2025-09-11T08:03:52.190" v="276"/>
          <ac:spMkLst>
            <pc:docMk/>
            <pc:sldMk cId="3458043025" sldId="289"/>
            <ac:spMk id="96" creationId="{D7EDE4A8-37E9-2A55-EC59-8949D650E208}"/>
          </ac:spMkLst>
        </pc:spChg>
        <pc:spChg chg="mod">
          <ac:chgData name="Tanisha N" userId="c031b77b5c5c6501" providerId="LiveId" clId="{D07E778D-A9A4-4B2B-B582-7DA29188D938}" dt="2025-09-11T07:58:37.684" v="87" actId="2711"/>
          <ac:spMkLst>
            <pc:docMk/>
            <pc:sldMk cId="3458043025" sldId="289"/>
            <ac:spMk id="97" creationId="{BEC14ACB-BC97-CFD0-0D37-32E34C31528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F8070825-DB87-3A16-D5E7-BC0277F496F0}"/>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947EC146-FFE7-B724-7922-38657ED7C8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8D2D6090-8F31-40E3-9D4B-6ED8F7232C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87121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BA318C3B-2292-28B7-D6A1-243D591DE6E4}"/>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B3FE3D9E-A2E7-C03A-006F-09EA47F38A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4B4C7EE3-A380-C27E-03C0-7D5D5C2B4E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863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A8A8E1D9-4CAB-077C-7276-EB40C18A891B}"/>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9E126688-4128-94E2-003A-5203AC7420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CB4CED09-BE87-A8BB-1856-1FC899EC97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7180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29D50516-8884-3850-5656-0087AFAF57E8}"/>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5888E995-6C13-88A6-947E-AF11A5D5A2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E33F7FBD-589C-26E8-3993-9609529C63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6169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9022059-8878-7C69-2B04-77D4308DFF97}"/>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D5209615-892E-1B79-A745-43A10B86F6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3973B153-9F43-3A6E-4169-AEF4AD1C51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12058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988B4F0B-53B2-9407-9E90-66DC1C46ADA2}"/>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F1FDE285-6FAC-C381-5B83-D95D9B8902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BF6BC16F-D97B-4EE0-0F2D-C5BD22E6D7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04003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888CAAF-4575-C2E6-A7E9-FE0290566B97}"/>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84B625EC-F4EE-B5AA-F286-DF4B204B82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5FC3E2CB-0AF9-B4D9-4B63-523545479A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42886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C3D147D6-77E1-5FE2-683C-FF61CD560F14}"/>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604D4B85-378C-75D2-707A-AEA7B9946F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A9338F7D-A56C-EC54-A708-02564FC5B2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9116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61C9EF8C-D945-E36A-6F44-E1B13B05C7E8}"/>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5078BEDC-6098-866A-9E9B-402230E2F7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8B8A9BA2-96D6-8833-78D5-8F3AB941B9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29839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7879629F-CFB7-0B1D-7A70-4324482D5807}"/>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C65186AC-69E7-629C-0710-5C9BE32AD7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AC0BB93C-0854-BFFA-B76A-DE94307691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48373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1">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scholarworks.sjsu.edu/etd_projects/488"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s://doi.org/10.17781/p002605"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914399" y="922905"/>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latin typeface="+mj-lt"/>
                <a:ea typeface="Cambria" panose="02040503050406030204" pitchFamily="18" charset="0"/>
              </a:rPr>
              <a:t>Analysis and Identification of Malicious Mobile Applications</a:t>
            </a:r>
            <a:endParaRPr sz="2400" dirty="0">
              <a:solidFill>
                <a:schemeClr val="tx1"/>
              </a:solidFill>
              <a:latin typeface="+mj-lt"/>
              <a:ea typeface="Cambria" panose="02040503050406030204" pitchFamily="18" charset="0"/>
            </a:endParaRPr>
          </a:p>
        </p:txBody>
      </p:sp>
      <p:sp>
        <p:nvSpPr>
          <p:cNvPr id="88" name="Google Shape;88;p13"/>
          <p:cNvSpPr txBox="1">
            <a:spLocks noGrp="1"/>
          </p:cNvSpPr>
          <p:nvPr>
            <p:ph type="subTitle" idx="1"/>
          </p:nvPr>
        </p:nvSpPr>
        <p:spPr>
          <a:xfrm>
            <a:off x="790468" y="1784301"/>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mj-lt"/>
                <a:ea typeface="Cambria" panose="02040503050406030204" pitchFamily="18" charset="0"/>
              </a:rPr>
              <a:t>Batch Number: CCS33</a:t>
            </a:r>
            <a:endParaRPr sz="1800" dirty="0">
              <a:latin typeface="+mj-lt"/>
              <a:ea typeface="Cambria" panose="02040503050406030204" pitchFamily="18" charset="0"/>
            </a:endParaRPr>
          </a:p>
        </p:txBody>
      </p:sp>
      <p:sp>
        <p:nvSpPr>
          <p:cNvPr id="90" name="Google Shape;90;p13"/>
          <p:cNvSpPr txBox="1"/>
          <p:nvPr/>
        </p:nvSpPr>
        <p:spPr>
          <a:xfrm>
            <a:off x="6968501" y="2351229"/>
            <a:ext cx="3860784" cy="667760"/>
          </a:xfrm>
          <a:prstGeom prst="rect">
            <a:avLst/>
          </a:prstGeom>
          <a:noFill/>
          <a:ln>
            <a:noFill/>
          </a:ln>
        </p:spPr>
        <p:txBody>
          <a:bodyPr spcFirstLastPara="1" wrap="square" lIns="91425" tIns="45700" rIns="91425" bIns="45700" anchor="t" anchorCtr="0">
            <a:normAutofit fontScale="92500" lnSpcReduction="10000"/>
          </a:bodyPr>
          <a:lstStyle/>
          <a:p>
            <a:pPr marL="0" marR="0" lvl="0" indent="0" algn="ctr" rtl="0">
              <a:spcBef>
                <a:spcPts val="0"/>
              </a:spcBef>
              <a:spcAft>
                <a:spcPts val="0"/>
              </a:spcAft>
              <a:buClr>
                <a:srgbClr val="17365D"/>
              </a:buClr>
              <a:buSzPts val="2000"/>
              <a:buFont typeface="Arial"/>
              <a:buNone/>
            </a:pPr>
            <a:r>
              <a:rPr lang="en-GB" sz="1900" b="1" i="0" u="none" strike="noStrike" cap="none" dirty="0">
                <a:solidFill>
                  <a:srgbClr val="17365D"/>
                </a:solidFill>
                <a:latin typeface="+mj-lt"/>
                <a:ea typeface="Cambria" panose="02040503050406030204" pitchFamily="18" charset="0"/>
                <a:cs typeface="Verdana"/>
                <a:sym typeface="Verdana"/>
              </a:rPr>
              <a:t>Under the Supervision of</a:t>
            </a:r>
            <a:endParaRPr sz="1900" b="1" i="0" u="none" strike="noStrike" cap="none" dirty="0">
              <a:solidFill>
                <a:srgbClr val="17365D"/>
              </a:solidFill>
              <a:latin typeface="+mj-lt"/>
              <a:ea typeface="Cambria" panose="02040503050406030204" pitchFamily="18" charset="0"/>
              <a:cs typeface="Verdana"/>
              <a:sym typeface="Verdana"/>
            </a:endParaRPr>
          </a:p>
          <a:p>
            <a:pPr lvl="0">
              <a:spcBef>
                <a:spcPts val="340"/>
              </a:spcBef>
              <a:buClr>
                <a:srgbClr val="17365D"/>
              </a:buClr>
              <a:buSzPts val="1700"/>
            </a:pPr>
            <a:r>
              <a:rPr lang="en-GB" sz="2000" b="1" dirty="0">
                <a:solidFill>
                  <a:srgbClr val="17365D"/>
                </a:solidFill>
                <a:latin typeface="+mj-lt"/>
                <a:ea typeface="Cambria" panose="02040503050406030204" pitchFamily="18" charset="0"/>
                <a:cs typeface="Verdana"/>
                <a:sym typeface="Verdana"/>
              </a:rPr>
              <a:t> </a:t>
            </a:r>
            <a:endParaRPr sz="2000" b="1" i="0" u="none" strike="noStrike" cap="none" dirty="0">
              <a:solidFill>
                <a:srgbClr val="17365D"/>
              </a:solidFill>
              <a:latin typeface="+mj-lt"/>
              <a:ea typeface="Cambria" panose="02040503050406030204" pitchFamily="18" charset="0"/>
              <a:cs typeface="Verdana"/>
              <a:sym typeface="Verdana"/>
            </a:endParaRPr>
          </a:p>
        </p:txBody>
      </p:sp>
      <p:sp>
        <p:nvSpPr>
          <p:cNvPr id="91" name="Google Shape;91;p13"/>
          <p:cNvSpPr txBox="1"/>
          <p:nvPr/>
        </p:nvSpPr>
        <p:spPr>
          <a:xfrm>
            <a:off x="3346513" y="155644"/>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mj-lt"/>
                <a:ea typeface="Cambria" panose="02040503050406030204" pitchFamily="18" charset="0"/>
                <a:cs typeface="Verdana"/>
                <a:sym typeface="Verdana"/>
              </a:rPr>
              <a:t>CSE7101-</a:t>
            </a:r>
            <a:r>
              <a:rPr lang="en-GB" sz="1800" b="1" i="0" u="none" strike="noStrike" cap="none" dirty="0">
                <a:solidFill>
                  <a:srgbClr val="17365D"/>
                </a:solidFill>
                <a:latin typeface="+mj-lt"/>
                <a:ea typeface="Cambria" panose="02040503050406030204" pitchFamily="18" charset="0"/>
                <a:cs typeface="Verdana"/>
                <a:sym typeface="Verdana"/>
              </a:rPr>
              <a:t> Capstone Project</a:t>
            </a:r>
            <a:endParaRPr sz="1800" dirty="0">
              <a:latin typeface="+mj-lt"/>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mj-lt"/>
                <a:ea typeface="Cambria" panose="02040503050406030204" pitchFamily="18" charset="0"/>
                <a:cs typeface="Verdana"/>
                <a:sym typeface="Verdana"/>
              </a:rPr>
              <a:t>Review-2</a:t>
            </a:r>
          </a:p>
          <a:p>
            <a:pPr marL="0" marR="0" lvl="0" indent="0" algn="ctr" rtl="0">
              <a:spcBef>
                <a:spcPts val="310"/>
              </a:spcBef>
              <a:spcAft>
                <a:spcPts val="0"/>
              </a:spcAft>
              <a:buClr>
                <a:srgbClr val="17365D"/>
              </a:buClr>
              <a:buSzPct val="100000"/>
              <a:buFont typeface="Arial"/>
              <a:buNone/>
            </a:pPr>
            <a:endParaRPr sz="1800" b="1" i="0" u="none" strike="noStrike" cap="none" dirty="0">
              <a:solidFill>
                <a:srgbClr val="17365D"/>
              </a:solidFill>
              <a:latin typeface="+mj-lt"/>
              <a:ea typeface="Cambria" panose="02040503050406030204" pitchFamily="18" charset="0"/>
              <a:cs typeface="Verdana"/>
              <a:sym typeface="Verdana"/>
            </a:endParaRPr>
          </a:p>
        </p:txBody>
      </p:sp>
      <p:sp>
        <p:nvSpPr>
          <p:cNvPr id="8" name="Google Shape;91;p13"/>
          <p:cNvSpPr txBox="1"/>
          <p:nvPr/>
        </p:nvSpPr>
        <p:spPr>
          <a:xfrm>
            <a:off x="790468" y="4677399"/>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1800" b="1" i="0" u="none" strike="noStrike" cap="none" dirty="0">
                <a:solidFill>
                  <a:schemeClr val="tx1"/>
                </a:solidFill>
                <a:latin typeface="+mj-lt"/>
                <a:ea typeface="Cambria" panose="02040503050406030204" pitchFamily="18" charset="0"/>
                <a:cs typeface="Verdana"/>
                <a:sym typeface="Verdana"/>
              </a:rPr>
              <a:t>Name of the Program: </a:t>
            </a:r>
            <a:r>
              <a:rPr lang="en-US" sz="1800" dirty="0">
                <a:solidFill>
                  <a:schemeClr val="tx1"/>
                </a:solidFill>
                <a:latin typeface="+mj-lt"/>
                <a:ea typeface="Cambria" panose="02040503050406030204" pitchFamily="18" charset="0"/>
              </a:rPr>
              <a:t>Computer Science &amp; Engineering (Cyber Security) </a:t>
            </a:r>
            <a:r>
              <a:rPr lang="en-US" sz="1800" b="1" i="0" u="none" strike="noStrike" cap="none" dirty="0">
                <a:solidFill>
                  <a:schemeClr val="tx1"/>
                </a:solidFill>
                <a:latin typeface="+mj-lt"/>
                <a:ea typeface="Cambria" panose="02040503050406030204" pitchFamily="18" charset="0"/>
                <a:cs typeface="Verdana"/>
                <a:sym typeface="Verdana"/>
              </a:rPr>
              <a:t> </a:t>
            </a:r>
          </a:p>
          <a:p>
            <a:pPr lvl="0">
              <a:buClr>
                <a:srgbClr val="17365D"/>
              </a:buClr>
              <a:buSzPct val="100000"/>
            </a:pPr>
            <a:r>
              <a:rPr lang="en-US" sz="1800" b="1" dirty="0">
                <a:solidFill>
                  <a:schemeClr val="tx1"/>
                </a:solidFill>
                <a:latin typeface="+mj-lt"/>
                <a:ea typeface="Cambria" panose="02040503050406030204" pitchFamily="18" charset="0"/>
                <a:cs typeface="Verdana"/>
                <a:sym typeface="Verdana"/>
              </a:rPr>
              <a:t>Name of the HoD: </a:t>
            </a:r>
            <a:r>
              <a:rPr lang="en-IN" sz="1800" dirty="0">
                <a:solidFill>
                  <a:schemeClr val="tx1"/>
                </a:solidFill>
                <a:latin typeface="+mj-lt"/>
                <a:ea typeface="Cambria" panose="02040503050406030204" pitchFamily="18" charset="0"/>
              </a:rPr>
              <a:t>Dr. Anandaraj S.P </a:t>
            </a:r>
          </a:p>
          <a:p>
            <a:pPr lvl="0">
              <a:buClr>
                <a:srgbClr val="17365D"/>
              </a:buClr>
              <a:buSzPct val="100000"/>
            </a:pPr>
            <a:r>
              <a:rPr lang="en-US" sz="1800" b="1" i="0" u="none" strike="noStrike" cap="none" dirty="0">
                <a:solidFill>
                  <a:schemeClr val="tx1"/>
                </a:solidFill>
                <a:latin typeface="+mj-lt"/>
                <a:ea typeface="Cambria" panose="02040503050406030204" pitchFamily="18" charset="0"/>
                <a:cs typeface="Verdana"/>
                <a:sym typeface="Verdana"/>
              </a:rPr>
              <a:t>Name of the Program Project Coordinator: </a:t>
            </a:r>
            <a:r>
              <a:rPr lang="en-IN" sz="1800" dirty="0">
                <a:solidFill>
                  <a:schemeClr val="tx1"/>
                </a:solidFill>
                <a:latin typeface="+mj-lt"/>
                <a:ea typeface="Cambria" panose="02040503050406030204" pitchFamily="18" charset="0"/>
              </a:rPr>
              <a:t>Dr. </a:t>
            </a:r>
            <a:r>
              <a:rPr lang="en-IN" sz="1800" dirty="0" err="1">
                <a:solidFill>
                  <a:schemeClr val="tx1"/>
                </a:solidFill>
                <a:latin typeface="+mj-lt"/>
                <a:ea typeface="Cambria" panose="02040503050406030204" pitchFamily="18" charset="0"/>
              </a:rPr>
              <a:t>Sharmasth</a:t>
            </a:r>
            <a:r>
              <a:rPr lang="en-IN" sz="1800" dirty="0">
                <a:solidFill>
                  <a:schemeClr val="tx1"/>
                </a:solidFill>
                <a:latin typeface="+mj-lt"/>
                <a:ea typeface="Cambria" panose="02040503050406030204" pitchFamily="18" charset="0"/>
              </a:rPr>
              <a:t> Vali </a:t>
            </a:r>
          </a:p>
          <a:p>
            <a:pPr lvl="0">
              <a:buClr>
                <a:srgbClr val="17365D"/>
              </a:buClr>
              <a:buSzPct val="100000"/>
            </a:pPr>
            <a:r>
              <a:rPr lang="en-US" sz="1800" b="1" dirty="0">
                <a:solidFill>
                  <a:schemeClr val="tx1"/>
                </a:solidFill>
                <a:latin typeface="+mj-lt"/>
                <a:ea typeface="Cambria" panose="02040503050406030204" pitchFamily="18" charset="0"/>
                <a:cs typeface="Verdana"/>
                <a:sym typeface="Verdana"/>
              </a:rPr>
              <a:t>Name of the School Project Coordinators</a:t>
            </a:r>
            <a:r>
              <a:rPr lang="en-US" sz="1800" dirty="0">
                <a:solidFill>
                  <a:schemeClr val="tx1"/>
                </a:solidFill>
                <a:latin typeface="+mj-lt"/>
                <a:ea typeface="Cambria" panose="02040503050406030204" pitchFamily="18" charset="0"/>
                <a:cs typeface="Verdana"/>
                <a:sym typeface="Verdana"/>
              </a:rPr>
              <a:t>: </a:t>
            </a:r>
            <a:r>
              <a:rPr lang="en-US" sz="1800" i="0" u="none" strike="noStrike" cap="none" dirty="0">
                <a:solidFill>
                  <a:schemeClr val="tx1"/>
                </a:solidFill>
                <a:latin typeface="+mj-lt"/>
                <a:ea typeface="Cambria" panose="02040503050406030204" pitchFamily="18" charset="0"/>
                <a:cs typeface="Verdana"/>
                <a:sym typeface="Verdana"/>
              </a:rPr>
              <a:t>Dr. </a:t>
            </a:r>
            <a:r>
              <a:rPr lang="en-US" sz="1800" i="0" u="none" strike="noStrike" cap="none" dirty="0" err="1">
                <a:solidFill>
                  <a:schemeClr val="tx1"/>
                </a:solidFill>
                <a:latin typeface="+mj-lt"/>
                <a:ea typeface="Cambria" panose="02040503050406030204" pitchFamily="18" charset="0"/>
                <a:cs typeface="Verdana"/>
                <a:sym typeface="Verdana"/>
              </a:rPr>
              <a:t>Sampath</a:t>
            </a:r>
            <a:r>
              <a:rPr lang="en-US" sz="1800" i="0" u="none" strike="noStrike" cap="none" dirty="0">
                <a:solidFill>
                  <a:schemeClr val="tx1"/>
                </a:solidFill>
                <a:latin typeface="+mj-lt"/>
                <a:ea typeface="Cambria" panose="02040503050406030204" pitchFamily="18" charset="0"/>
                <a:cs typeface="Verdana"/>
                <a:sym typeface="Verdana"/>
              </a:rPr>
              <a:t> A K , Dr. </a:t>
            </a:r>
            <a:r>
              <a:rPr lang="en-US" sz="1800" i="0" u="none" strike="noStrike" cap="none" dirty="0" err="1">
                <a:solidFill>
                  <a:schemeClr val="tx1"/>
                </a:solidFill>
                <a:latin typeface="+mj-lt"/>
                <a:ea typeface="Cambria" panose="02040503050406030204" pitchFamily="18" charset="0"/>
                <a:cs typeface="Verdana"/>
                <a:sym typeface="Verdana"/>
              </a:rPr>
              <a:t>Geetha</a:t>
            </a:r>
            <a:r>
              <a:rPr lang="en-US" sz="1800" i="0" u="none" strike="noStrike" cap="none" dirty="0">
                <a:solidFill>
                  <a:schemeClr val="tx1"/>
                </a:solidFill>
                <a:latin typeface="+mj-lt"/>
                <a:ea typeface="Cambria" panose="02040503050406030204" pitchFamily="18" charset="0"/>
                <a:cs typeface="Verdana"/>
                <a:sym typeface="Verdana"/>
              </a:rPr>
              <a:t> A </a:t>
            </a:r>
            <a:endParaRPr sz="1800" i="0" u="none" strike="noStrike" cap="none" dirty="0">
              <a:solidFill>
                <a:schemeClr val="tx1"/>
              </a:solidFill>
              <a:latin typeface="+mj-lt"/>
              <a:ea typeface="Cambria" panose="02040503050406030204" pitchFamily="18" charset="0"/>
              <a:cs typeface="Verdana"/>
              <a:sym typeface="Verdana"/>
            </a:endParaRPr>
          </a:p>
        </p:txBody>
      </p:sp>
      <p:sp>
        <p:nvSpPr>
          <p:cNvPr id="3" name="TextBox 2">
            <a:extLst>
              <a:ext uri="{FF2B5EF4-FFF2-40B4-BE49-F238E27FC236}">
                <a16:creationId xmlns:a16="http://schemas.microsoft.com/office/drawing/2014/main" id="{38E0E15C-AC1A-A155-F22B-A25B55E6EAA1}"/>
              </a:ext>
            </a:extLst>
          </p:cNvPr>
          <p:cNvSpPr txBox="1"/>
          <p:nvPr/>
        </p:nvSpPr>
        <p:spPr>
          <a:xfrm>
            <a:off x="6095999" y="2809863"/>
            <a:ext cx="5605789" cy="1592744"/>
          </a:xfrm>
          <a:prstGeom prst="rect">
            <a:avLst/>
          </a:prstGeom>
          <a:noFill/>
        </p:spPr>
        <p:txBody>
          <a:bodyPr wrap="square" rtlCol="0">
            <a:spAutoFit/>
          </a:bodyPr>
          <a:lstStyle/>
          <a:p>
            <a:pPr lvl="0" algn="ctr">
              <a:spcBef>
                <a:spcPts val="340"/>
              </a:spcBef>
              <a:buClr>
                <a:srgbClr val="17365D"/>
              </a:buClr>
              <a:buSzPts val="1700"/>
            </a:pPr>
            <a:r>
              <a:rPr lang="en-US" sz="1800" b="1" dirty="0">
                <a:solidFill>
                  <a:schemeClr val="tx1"/>
                </a:solidFill>
                <a:latin typeface="+mj-lt"/>
                <a:ea typeface="Cambria" panose="02040503050406030204" pitchFamily="18" charset="0"/>
                <a:cs typeface="Verdana"/>
                <a:sym typeface="Verdana"/>
              </a:rPr>
              <a:t>Dr. Syed Siraj Ahmed</a:t>
            </a:r>
            <a:endParaRPr lang="en-US" b="1" dirty="0">
              <a:solidFill>
                <a:schemeClr val="tx1"/>
              </a:solidFill>
              <a:latin typeface="+mj-lt"/>
              <a:ea typeface="Cambria" panose="02040503050406030204" pitchFamily="18" charset="0"/>
            </a:endParaRPr>
          </a:p>
          <a:p>
            <a:pPr lvl="0" algn="ctr">
              <a:spcBef>
                <a:spcPts val="340"/>
              </a:spcBef>
              <a:buClr>
                <a:srgbClr val="17365D"/>
              </a:buClr>
              <a:buSzPts val="1700"/>
            </a:pPr>
            <a:r>
              <a:rPr lang="en-US" sz="1800" dirty="0">
                <a:solidFill>
                  <a:schemeClr val="tx1"/>
                </a:solidFill>
                <a:latin typeface="+mj-lt"/>
                <a:ea typeface="Cambria" panose="02040503050406030204" pitchFamily="18" charset="0"/>
                <a:cs typeface="Verdana"/>
                <a:sym typeface="Verdana"/>
              </a:rPr>
              <a:t> Associate Professor </a:t>
            </a:r>
          </a:p>
          <a:p>
            <a:pPr lvl="0" algn="ctr">
              <a:spcBef>
                <a:spcPts val="340"/>
              </a:spcBef>
              <a:buClr>
                <a:srgbClr val="17365D"/>
              </a:buClr>
              <a:buSzPts val="1700"/>
            </a:pPr>
            <a:r>
              <a:rPr lang="en-US" sz="1800" dirty="0">
                <a:solidFill>
                  <a:schemeClr val="tx1"/>
                </a:solidFill>
                <a:latin typeface="+mj-lt"/>
                <a:ea typeface="Cambria" panose="02040503050406030204" pitchFamily="18" charset="0"/>
                <a:cs typeface="Verdana"/>
                <a:sym typeface="Verdana"/>
              </a:rPr>
              <a:t>School of Computer Science and Engineering</a:t>
            </a:r>
            <a:endParaRPr lang="en-US" dirty="0">
              <a:solidFill>
                <a:schemeClr val="tx1"/>
              </a:solidFill>
              <a:latin typeface="+mj-lt"/>
              <a:ea typeface="Cambria" panose="02040503050406030204" pitchFamily="18" charset="0"/>
            </a:endParaRPr>
          </a:p>
          <a:p>
            <a:pPr lvl="0" algn="ctr">
              <a:spcBef>
                <a:spcPts val="340"/>
              </a:spcBef>
              <a:buClr>
                <a:srgbClr val="17365D"/>
              </a:buClr>
              <a:buSzPts val="1700"/>
            </a:pPr>
            <a:r>
              <a:rPr lang="en-US" sz="1800" dirty="0">
                <a:solidFill>
                  <a:schemeClr val="tx1"/>
                </a:solidFill>
                <a:latin typeface="+mj-lt"/>
                <a:ea typeface="Cambria" panose="02040503050406030204" pitchFamily="18" charset="0"/>
                <a:cs typeface="Verdana"/>
                <a:sym typeface="Verdana"/>
              </a:rPr>
              <a:t>Presidency University</a:t>
            </a:r>
            <a:endParaRPr lang="en-US" dirty="0">
              <a:solidFill>
                <a:schemeClr val="tx1"/>
              </a:solidFill>
              <a:latin typeface="+mj-lt"/>
              <a:ea typeface="Cambria" panose="02040503050406030204" pitchFamily="18" charset="0"/>
            </a:endParaRPr>
          </a:p>
          <a:p>
            <a:pPr algn="ctr"/>
            <a:endParaRPr lang="en-IN" sz="1800" dirty="0">
              <a:solidFill>
                <a:schemeClr val="tx1"/>
              </a:solidFill>
              <a:latin typeface="+mj-lt"/>
            </a:endParaRPr>
          </a:p>
        </p:txBody>
      </p:sp>
      <p:graphicFrame>
        <p:nvGraphicFramePr>
          <p:cNvPr id="6" name="Table 5">
            <a:extLst>
              <a:ext uri="{FF2B5EF4-FFF2-40B4-BE49-F238E27FC236}">
                <a16:creationId xmlns:a16="http://schemas.microsoft.com/office/drawing/2014/main" id="{9FADAED0-3DCD-FED5-1FFA-40224224C966}"/>
              </a:ext>
            </a:extLst>
          </p:cNvPr>
          <p:cNvGraphicFramePr>
            <a:graphicFrameLocks noGrp="1"/>
          </p:cNvGraphicFramePr>
          <p:nvPr>
            <p:extLst>
              <p:ext uri="{D42A27DB-BD31-4B8C-83A1-F6EECF244321}">
                <p14:modId xmlns:p14="http://schemas.microsoft.com/office/powerpoint/2010/main" val="2507356983"/>
              </p:ext>
            </p:extLst>
          </p:nvPr>
        </p:nvGraphicFramePr>
        <p:xfrm>
          <a:off x="842179" y="2340726"/>
          <a:ext cx="4763612" cy="2133600"/>
        </p:xfrm>
        <a:graphic>
          <a:graphicData uri="http://schemas.openxmlformats.org/drawingml/2006/table">
            <a:tbl>
              <a:tblPr firstRow="1" bandRow="1">
                <a:tableStyleId>{57690726-49DA-4552-BDEB-330DD8EA8BD9}</a:tableStyleId>
              </a:tblPr>
              <a:tblGrid>
                <a:gridCol w="2381806">
                  <a:extLst>
                    <a:ext uri="{9D8B030D-6E8A-4147-A177-3AD203B41FA5}">
                      <a16:colId xmlns:a16="http://schemas.microsoft.com/office/drawing/2014/main" val="2298723312"/>
                    </a:ext>
                  </a:extLst>
                </a:gridCol>
                <a:gridCol w="2381806">
                  <a:extLst>
                    <a:ext uri="{9D8B030D-6E8A-4147-A177-3AD203B41FA5}">
                      <a16:colId xmlns:a16="http://schemas.microsoft.com/office/drawing/2014/main" val="1076577871"/>
                    </a:ext>
                  </a:extLst>
                </a:gridCol>
              </a:tblGrid>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800" b="1" u="none" strike="noStrike" cap="none" dirty="0">
                          <a:solidFill>
                            <a:schemeClr val="tx1"/>
                          </a:solidFill>
                          <a:latin typeface="+mj-lt"/>
                          <a:sym typeface="Arial"/>
                        </a:rPr>
                        <a:t>Roll Number</a:t>
                      </a:r>
                    </a:p>
                    <a:p>
                      <a:endParaRPr lang="en-IN" dirty="0">
                        <a:solidFill>
                          <a:schemeClr val="tx1"/>
                        </a:solidFill>
                        <a:latin typeface="+mj-lt"/>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800" b="1" u="none" strike="noStrike" cap="none" dirty="0">
                          <a:solidFill>
                            <a:schemeClr val="tx1"/>
                          </a:solidFill>
                          <a:latin typeface="+mj-lt"/>
                          <a:sym typeface="Arial"/>
                        </a:rPr>
                        <a:t>Student Name</a:t>
                      </a:r>
                    </a:p>
                    <a:p>
                      <a:endParaRPr lang="en-IN" dirty="0">
                        <a:solidFill>
                          <a:schemeClr val="tx1"/>
                        </a:solidFill>
                        <a:latin typeface="+mj-lt"/>
                      </a:endParaRPr>
                    </a:p>
                  </a:txBody>
                  <a:tcPr/>
                </a:tc>
                <a:extLst>
                  <a:ext uri="{0D108BD9-81ED-4DB2-BD59-A6C34878D82A}">
                    <a16:rowId xmlns:a16="http://schemas.microsoft.com/office/drawing/2014/main" val="1340333230"/>
                  </a:ext>
                </a:extLst>
              </a:tr>
              <a:tr h="370840">
                <a:tc>
                  <a:txBody>
                    <a:bodyPr/>
                    <a:lstStyle/>
                    <a:p>
                      <a:r>
                        <a:rPr lang="en-IN" sz="1400" b="0" u="none" strike="noStrike" cap="none" dirty="0">
                          <a:solidFill>
                            <a:schemeClr val="tx1"/>
                          </a:solidFill>
                          <a:latin typeface="+mj-lt"/>
                          <a:sym typeface="Arial"/>
                        </a:rPr>
                        <a:t>20221CCS0155 </a:t>
                      </a:r>
                      <a:endParaRPr lang="en-IN" dirty="0">
                        <a:solidFill>
                          <a:schemeClr val="tx1"/>
                        </a:solidFill>
                        <a:latin typeface="+mj-lt"/>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400" b="0" u="none" strike="noStrike" cap="none" dirty="0">
                          <a:solidFill>
                            <a:schemeClr val="tx1"/>
                          </a:solidFill>
                          <a:latin typeface="+mj-lt"/>
                          <a:sym typeface="Arial"/>
                        </a:rPr>
                        <a:t>FATHIMA HIJAAB IRFAN </a:t>
                      </a:r>
                    </a:p>
                    <a:p>
                      <a:endParaRPr lang="en-IN" dirty="0">
                        <a:solidFill>
                          <a:schemeClr val="tx1"/>
                        </a:solidFill>
                        <a:latin typeface="+mj-lt"/>
                      </a:endParaRPr>
                    </a:p>
                  </a:txBody>
                  <a:tcPr/>
                </a:tc>
                <a:extLst>
                  <a:ext uri="{0D108BD9-81ED-4DB2-BD59-A6C34878D82A}">
                    <a16:rowId xmlns:a16="http://schemas.microsoft.com/office/drawing/2014/main" val="2143384845"/>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b="0" u="none" strike="noStrike" cap="none">
                          <a:solidFill>
                            <a:schemeClr val="tx1"/>
                          </a:solidFill>
                          <a:latin typeface="+mj-lt"/>
                          <a:sym typeface="Arial"/>
                        </a:rPr>
                        <a:t>20221CCS0120</a:t>
                      </a:r>
                    </a:p>
                    <a:p>
                      <a:endParaRPr lang="en-IN" dirty="0">
                        <a:solidFill>
                          <a:schemeClr val="tx1"/>
                        </a:solidFill>
                        <a:latin typeface="+mj-lt"/>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400" b="0" u="none" strike="noStrike" cap="none" dirty="0">
                          <a:solidFill>
                            <a:schemeClr val="tx1"/>
                          </a:solidFill>
                          <a:latin typeface="+mj-lt"/>
                          <a:sym typeface="Arial"/>
                        </a:rPr>
                        <a:t>AAMINA SULTAN </a:t>
                      </a:r>
                    </a:p>
                    <a:p>
                      <a:endParaRPr lang="en-IN" dirty="0">
                        <a:solidFill>
                          <a:schemeClr val="tx1"/>
                        </a:solidFill>
                        <a:latin typeface="+mj-lt"/>
                      </a:endParaRPr>
                    </a:p>
                  </a:txBody>
                  <a:tcPr/>
                </a:tc>
                <a:extLst>
                  <a:ext uri="{0D108BD9-81ED-4DB2-BD59-A6C34878D82A}">
                    <a16:rowId xmlns:a16="http://schemas.microsoft.com/office/drawing/2014/main" val="944099589"/>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b="0" u="none" strike="noStrike" cap="none" dirty="0">
                          <a:solidFill>
                            <a:schemeClr val="tx1"/>
                          </a:solidFill>
                          <a:latin typeface="+mj-lt"/>
                          <a:sym typeface="Arial"/>
                        </a:rPr>
                        <a:t>20221CCS0111</a:t>
                      </a:r>
                    </a:p>
                    <a:p>
                      <a:endParaRPr lang="en-IN" dirty="0">
                        <a:solidFill>
                          <a:schemeClr val="tx1"/>
                        </a:solidFill>
                        <a:latin typeface="+mj-lt"/>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400" b="0" u="none" strike="noStrike" cap="none" dirty="0">
                          <a:solidFill>
                            <a:schemeClr val="tx1"/>
                          </a:solidFill>
                          <a:latin typeface="+mj-lt"/>
                          <a:sym typeface="Arial"/>
                        </a:rPr>
                        <a:t>TANISHA N </a:t>
                      </a:r>
                    </a:p>
                    <a:p>
                      <a:endParaRPr lang="en-IN" dirty="0">
                        <a:solidFill>
                          <a:schemeClr val="tx1"/>
                        </a:solidFill>
                        <a:latin typeface="+mj-lt"/>
                      </a:endParaRPr>
                    </a:p>
                  </a:txBody>
                  <a:tcPr/>
                </a:tc>
                <a:extLst>
                  <a:ext uri="{0D108BD9-81ED-4DB2-BD59-A6C34878D82A}">
                    <a16:rowId xmlns:a16="http://schemas.microsoft.com/office/drawing/2014/main" val="190933241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mj-lt"/>
                <a:ea typeface="Cambria" panose="02040503050406030204" pitchFamily="18" charset="0"/>
              </a:rPr>
              <a:t>Content</a:t>
            </a:r>
            <a:endParaRPr dirty="0">
              <a:latin typeface="+mj-lt"/>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47500" lnSpcReduction="20000"/>
          </a:bodyPr>
          <a:lstStyle/>
          <a:p>
            <a:pPr marL="495300" indent="-342900" algn="just">
              <a:lnSpc>
                <a:spcPct val="200000"/>
              </a:lnSpc>
              <a:spcBef>
                <a:spcPts val="0"/>
              </a:spcBef>
              <a:buFont typeface="Arial" panose="020B0604020202020204" pitchFamily="34" charset="0"/>
              <a:buChar char="•"/>
            </a:pPr>
            <a:r>
              <a:rPr lang="en-US" dirty="0">
                <a:latin typeface="+mj-lt"/>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mj-lt"/>
                <a:ea typeface="Cambria" panose="02040503050406030204" pitchFamily="18" charset="0"/>
              </a:rPr>
              <a:t>Abstract</a:t>
            </a:r>
          </a:p>
          <a:p>
            <a:pPr marL="495300" indent="-342900" algn="just">
              <a:lnSpc>
                <a:spcPct val="200000"/>
              </a:lnSpc>
              <a:spcBef>
                <a:spcPts val="0"/>
              </a:spcBef>
              <a:buFont typeface="Arial" panose="020B0604020202020204" pitchFamily="34" charset="0"/>
              <a:buChar char="•"/>
            </a:pPr>
            <a:r>
              <a:rPr lang="en-US" dirty="0">
                <a:latin typeface="+mj-lt"/>
                <a:ea typeface="Cambria" panose="02040503050406030204" pitchFamily="18" charset="0"/>
              </a:rPr>
              <a:t>Literature Survey</a:t>
            </a:r>
          </a:p>
          <a:p>
            <a:pPr marL="495300" indent="-342900" algn="just">
              <a:lnSpc>
                <a:spcPct val="200000"/>
              </a:lnSpc>
              <a:spcBef>
                <a:spcPts val="0"/>
              </a:spcBef>
              <a:buFont typeface="Arial" panose="020B0604020202020204" pitchFamily="34" charset="0"/>
              <a:buChar char="•"/>
            </a:pPr>
            <a:r>
              <a:rPr lang="en-US" dirty="0">
                <a:latin typeface="+mj-lt"/>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mj-lt"/>
                <a:ea typeface="Cambria" panose="02040503050406030204" pitchFamily="18" charset="0"/>
              </a:rPr>
              <a:t>Existing Methods and Drawbacks</a:t>
            </a:r>
          </a:p>
          <a:p>
            <a:pPr marL="495300" indent="-342900" algn="just">
              <a:lnSpc>
                <a:spcPct val="200000"/>
              </a:lnSpc>
              <a:spcBef>
                <a:spcPts val="0"/>
              </a:spcBef>
              <a:buFont typeface="Arial" panose="020B0604020202020204" pitchFamily="34" charset="0"/>
              <a:buChar char="•"/>
            </a:pPr>
            <a:r>
              <a:rPr lang="en-US" dirty="0">
                <a:latin typeface="+mj-lt"/>
                <a:ea typeface="Cambria" panose="02040503050406030204" pitchFamily="18" charset="0"/>
              </a:rPr>
              <a:t>Proposed Method &amp; Feasibility Study</a:t>
            </a:r>
          </a:p>
          <a:p>
            <a:pPr marL="495300" indent="-342900" algn="just">
              <a:lnSpc>
                <a:spcPct val="200000"/>
              </a:lnSpc>
              <a:spcBef>
                <a:spcPts val="0"/>
              </a:spcBef>
              <a:buFont typeface="Arial" panose="020B0604020202020204" pitchFamily="34" charset="0"/>
              <a:buChar char="•"/>
            </a:pPr>
            <a:r>
              <a:rPr lang="en-US" dirty="0">
                <a:latin typeface="+mj-lt"/>
                <a:ea typeface="Cambria" panose="02040503050406030204" pitchFamily="18" charset="0"/>
              </a:rPr>
              <a:t>System Architecture Diagram</a:t>
            </a:r>
          </a:p>
          <a:p>
            <a:pPr marL="495300" indent="-342900" algn="just">
              <a:lnSpc>
                <a:spcPct val="200000"/>
              </a:lnSpc>
              <a:spcBef>
                <a:spcPts val="0"/>
              </a:spcBef>
              <a:buFont typeface="Arial" panose="020B0604020202020204" pitchFamily="34" charset="0"/>
              <a:buChar char="•"/>
            </a:pPr>
            <a:r>
              <a:rPr lang="en-US" dirty="0">
                <a:latin typeface="+mj-lt"/>
                <a:ea typeface="Cambria" panose="02040503050406030204" pitchFamily="18" charset="0"/>
              </a:rPr>
              <a:t>Modules</a:t>
            </a:r>
          </a:p>
          <a:p>
            <a:pPr marL="495300" indent="-342900" algn="just">
              <a:lnSpc>
                <a:spcPct val="200000"/>
              </a:lnSpc>
              <a:spcBef>
                <a:spcPts val="0"/>
              </a:spcBef>
              <a:buFont typeface="Arial" panose="020B0604020202020204" pitchFamily="34" charset="0"/>
              <a:buChar char="•"/>
            </a:pPr>
            <a:r>
              <a:rPr lang="en-US" dirty="0">
                <a:latin typeface="+mj-lt"/>
                <a:ea typeface="Cambria" panose="02040503050406030204" pitchFamily="18" charset="0"/>
              </a:rPr>
              <a:t>Hardware and Software Details</a:t>
            </a:r>
          </a:p>
          <a:p>
            <a:pPr marL="495300" indent="-342900" algn="just">
              <a:lnSpc>
                <a:spcPct val="200000"/>
              </a:lnSpc>
              <a:spcBef>
                <a:spcPts val="0"/>
              </a:spcBef>
              <a:buFont typeface="Arial" panose="020B0604020202020204" pitchFamily="34" charset="0"/>
              <a:buChar char="•"/>
            </a:pPr>
            <a:r>
              <a:rPr lang="en-US" dirty="0">
                <a:latin typeface="+mj-lt"/>
                <a:ea typeface="Cambria" panose="02040503050406030204" pitchFamily="18" charset="0"/>
              </a:rPr>
              <a:t>Project Timeline</a:t>
            </a:r>
          </a:p>
          <a:p>
            <a:pPr marL="495300" indent="-342900" algn="just">
              <a:lnSpc>
                <a:spcPct val="200000"/>
              </a:lnSpc>
              <a:spcBef>
                <a:spcPts val="0"/>
              </a:spcBef>
              <a:buFont typeface="Arial" panose="020B0604020202020204" pitchFamily="34" charset="0"/>
              <a:buChar char="•"/>
            </a:pPr>
            <a:r>
              <a:rPr lang="en-US" dirty="0">
                <a:latin typeface="+mj-lt"/>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mj-lt"/>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mj-lt"/>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mj-lt"/>
                <a:ea typeface="Cambria" panose="02040503050406030204" pitchFamily="18" charset="0"/>
              </a:rPr>
              <a:t>Problem Statement Number: 68</a:t>
            </a:r>
            <a:br>
              <a:rPr lang="en-GB" sz="1600" dirty="0">
                <a:latin typeface="+mj-lt"/>
                <a:ea typeface="Cambria" panose="02040503050406030204" pitchFamily="18" charset="0"/>
              </a:rPr>
            </a:br>
            <a:r>
              <a:rPr lang="en-US" sz="1600" dirty="0">
                <a:ea typeface="Cambria" panose="02040503050406030204" pitchFamily="18" charset="0"/>
              </a:rPr>
              <a:t>Analysis and Identification of Malicious Mobile Applications</a:t>
            </a:r>
            <a:endParaRPr sz="1600" dirty="0">
              <a:latin typeface="+mj-lt"/>
              <a:ea typeface="Cambria" panose="02040503050406030204" pitchFamily="18" charset="0"/>
            </a:endParaRPr>
          </a:p>
        </p:txBody>
      </p:sp>
      <p:sp>
        <p:nvSpPr>
          <p:cNvPr id="2" name="TextBox 1">
            <a:extLst>
              <a:ext uri="{FF2B5EF4-FFF2-40B4-BE49-F238E27FC236}">
                <a16:creationId xmlns:a16="http://schemas.microsoft.com/office/drawing/2014/main" id="{486C19FE-5756-BFD5-06ED-38F97D0FD68F}"/>
              </a:ext>
            </a:extLst>
          </p:cNvPr>
          <p:cNvSpPr txBox="1"/>
          <p:nvPr/>
        </p:nvSpPr>
        <p:spPr>
          <a:xfrm>
            <a:off x="812800" y="1294373"/>
            <a:ext cx="10668000" cy="4739759"/>
          </a:xfrm>
          <a:prstGeom prst="rect">
            <a:avLst/>
          </a:prstGeom>
          <a:noFill/>
        </p:spPr>
        <p:txBody>
          <a:bodyPr wrap="square" rtlCol="0">
            <a:spAutoFit/>
          </a:bodyPr>
          <a:lstStyle/>
          <a:p>
            <a:r>
              <a:rPr lang="en-US" sz="1800" b="1" dirty="0">
                <a:latin typeface="+mj-lt"/>
                <a:ea typeface="Cambria" panose="02040503050406030204" pitchFamily="18" charset="0"/>
              </a:rPr>
              <a:t>Organization: </a:t>
            </a:r>
            <a:r>
              <a:rPr lang="en-US" sz="1800" dirty="0">
                <a:latin typeface="+mj-lt"/>
                <a:ea typeface="Cambria" panose="02040503050406030204" pitchFamily="18" charset="0"/>
              </a:rPr>
              <a:t>Ministry of Power</a:t>
            </a:r>
          </a:p>
          <a:p>
            <a:endParaRPr lang="en-US" sz="1800" dirty="0">
              <a:latin typeface="+mj-lt"/>
              <a:ea typeface="Cambria" panose="02040503050406030204" pitchFamily="18" charset="0"/>
            </a:endParaRPr>
          </a:p>
          <a:p>
            <a:r>
              <a:rPr lang="en-US" sz="1800" b="1" dirty="0">
                <a:latin typeface="+mj-lt"/>
                <a:ea typeface="Cambria" panose="02040503050406030204" pitchFamily="18" charset="0"/>
              </a:rPr>
              <a:t>Technology Bucket: </a:t>
            </a:r>
            <a:r>
              <a:rPr lang="en-US" sz="1800" dirty="0">
                <a:latin typeface="+mj-lt"/>
                <a:ea typeface="Cambria" panose="02040503050406030204" pitchFamily="18" charset="0"/>
              </a:rPr>
              <a:t>Blockchain and Cybersecurity</a:t>
            </a:r>
          </a:p>
          <a:p>
            <a:endParaRPr lang="en-US" sz="1800" dirty="0">
              <a:latin typeface="+mj-lt"/>
              <a:ea typeface="Cambria" panose="02040503050406030204" pitchFamily="18" charset="0"/>
            </a:endParaRPr>
          </a:p>
          <a:p>
            <a:r>
              <a:rPr lang="en-US" sz="1800" b="1" dirty="0">
                <a:latin typeface="+mj-lt"/>
                <a:ea typeface="Cambria" panose="02040503050406030204" pitchFamily="18" charset="0"/>
              </a:rPr>
              <a:t>Category: </a:t>
            </a:r>
            <a:r>
              <a:rPr lang="en-US" sz="1800" dirty="0">
                <a:latin typeface="+mj-lt"/>
                <a:ea typeface="Cambria" panose="02040503050406030204" pitchFamily="18" charset="0"/>
              </a:rPr>
              <a:t>Software</a:t>
            </a:r>
          </a:p>
          <a:p>
            <a:endParaRPr lang="en-US" sz="1800" b="1" dirty="0">
              <a:latin typeface="+mj-lt"/>
              <a:ea typeface="Cambria" panose="02040503050406030204" pitchFamily="18" charset="0"/>
            </a:endParaRPr>
          </a:p>
          <a:p>
            <a:r>
              <a:rPr lang="en-US" sz="1800" b="1" dirty="0">
                <a:latin typeface="+mj-lt"/>
                <a:ea typeface="Cambria" panose="02040503050406030204" pitchFamily="18" charset="0"/>
              </a:rPr>
              <a:t>Problem Description: </a:t>
            </a:r>
          </a:p>
          <a:p>
            <a:pPr marL="285750" indent="-285750">
              <a:buFont typeface="Arial" panose="020B0604020202020204" pitchFamily="34" charset="0"/>
              <a:buChar char="•"/>
            </a:pPr>
            <a:r>
              <a:rPr lang="en-US" sz="1600" dirty="0">
                <a:latin typeface="+mj-lt"/>
              </a:rPr>
              <a:t>The rapid growth of mobile applications has significantly increased the risk of cyber threats, as malicious applications can easily disguise themselves and remain undetected on smartphones</a:t>
            </a:r>
          </a:p>
          <a:p>
            <a:endParaRPr lang="en-US" sz="1600" dirty="0">
              <a:latin typeface="+mj-lt"/>
            </a:endParaRPr>
          </a:p>
          <a:p>
            <a:pPr marL="285750" indent="-285750">
              <a:buFont typeface="Arial" panose="020B0604020202020204" pitchFamily="34" charset="0"/>
              <a:buChar char="•"/>
            </a:pPr>
            <a:r>
              <a:rPr lang="en-US" sz="1600" dirty="0">
                <a:latin typeface="+mj-lt"/>
              </a:rPr>
              <a:t>Users often accumulate unused applications without realizing the potential security vulnerabilities they pose. </a:t>
            </a:r>
          </a:p>
          <a:p>
            <a:pPr marL="285750" indent="-285750">
              <a:buFont typeface="Arial" panose="020B0604020202020204" pitchFamily="34" charset="0"/>
              <a:buChar char="•"/>
            </a:pPr>
            <a:endParaRPr lang="en-US" sz="1600" dirty="0">
              <a:latin typeface="+mj-lt"/>
            </a:endParaRPr>
          </a:p>
          <a:p>
            <a:pPr marL="285750" indent="-285750">
              <a:buFont typeface="Arial" panose="020B0604020202020204" pitchFamily="34" charset="0"/>
              <a:buChar char="•"/>
            </a:pPr>
            <a:r>
              <a:rPr lang="en-US" sz="1600" dirty="0">
                <a:latin typeface="+mj-lt"/>
              </a:rPr>
              <a:t>Current detection methods are insufficient in identifying hidden malicious activities such as suspicious network communications, unauthorized data transfers, and abnormal background processes. </a:t>
            </a:r>
          </a:p>
          <a:p>
            <a:pPr marL="285750" indent="-285750">
              <a:buFont typeface="Arial" panose="020B0604020202020204" pitchFamily="34" charset="0"/>
              <a:buChar char="•"/>
            </a:pPr>
            <a:endParaRPr lang="en-US" sz="1600" dirty="0">
              <a:latin typeface="+mj-lt"/>
            </a:endParaRPr>
          </a:p>
          <a:p>
            <a:pPr marL="285750" indent="-285750">
              <a:buFont typeface="Arial" panose="020B0604020202020204" pitchFamily="34" charset="0"/>
              <a:buChar char="•"/>
            </a:pPr>
            <a:r>
              <a:rPr lang="en-US" sz="1600" dirty="0">
                <a:latin typeface="+mj-lt"/>
              </a:rPr>
              <a:t>Therefore, there is a need to develop a robust mobile application that leverages open-source intelligence and threat feeds to analyze, identify, and mitigate malicious mobile applications, ensuring enhanced security and user protection.</a:t>
            </a:r>
            <a:endParaRPr lang="en-IN" dirty="0">
              <a:latin typeface="+mj-lt"/>
            </a:endParaRP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1F5631FB-B621-3876-5793-82BF047655A7}"/>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F85B3CB5-A6BD-60EC-002F-949B5D5881D4}"/>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mj-lt"/>
                <a:ea typeface="Cambria" panose="02040503050406030204" pitchFamily="18" charset="0"/>
              </a:rPr>
              <a:t>Abstract</a:t>
            </a:r>
            <a:endParaRPr dirty="0">
              <a:latin typeface="+mj-lt"/>
              <a:ea typeface="Cambria" panose="02040503050406030204" pitchFamily="18" charset="0"/>
            </a:endParaRPr>
          </a:p>
        </p:txBody>
      </p:sp>
      <p:sp>
        <p:nvSpPr>
          <p:cNvPr id="97" name="Google Shape;97;p14">
            <a:extLst>
              <a:ext uri="{FF2B5EF4-FFF2-40B4-BE49-F238E27FC236}">
                <a16:creationId xmlns:a16="http://schemas.microsoft.com/office/drawing/2014/main" id="{3D7F3CF2-4FC0-8862-D038-48651D8C8CAB}"/>
              </a:ext>
            </a:extLst>
          </p:cNvPr>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62500" lnSpcReduction="20000"/>
          </a:bodyPr>
          <a:lstStyle/>
          <a:p>
            <a:pPr marL="495300" lvl="0" indent="-342900" algn="just">
              <a:lnSpc>
                <a:spcPct val="200000"/>
              </a:lnSpc>
              <a:spcBef>
                <a:spcPts val="0"/>
              </a:spcBef>
              <a:buFont typeface="Wingdings" panose="05000000000000000000" pitchFamily="2" charset="2"/>
              <a:buChar char="Ø"/>
            </a:pPr>
            <a:r>
              <a:rPr lang="en-US" dirty="0">
                <a:latin typeface="+mj-lt"/>
              </a:rPr>
              <a:t>The increasing usage of mobile applications across diverse platforms has amplified the risk of malicious software compromising user security and privacy. This project presents a hybrid mobile application designed to detect and analyze malicious behaviors by integrating multiple open-source tools and real-time threat intelligence. Utilizing </a:t>
            </a:r>
            <a:r>
              <a:rPr lang="en-US" dirty="0" err="1">
                <a:latin typeface="+mj-lt"/>
              </a:rPr>
              <a:t>MobSF</a:t>
            </a:r>
            <a:r>
              <a:rPr lang="en-US" dirty="0">
                <a:latin typeface="+mj-lt"/>
              </a:rPr>
              <a:t> for static code analysis, </a:t>
            </a:r>
            <a:r>
              <a:rPr lang="en-US" dirty="0" err="1">
                <a:latin typeface="+mj-lt"/>
              </a:rPr>
              <a:t>Scapy</a:t>
            </a:r>
            <a:r>
              <a:rPr lang="en-US" dirty="0">
                <a:latin typeface="+mj-lt"/>
              </a:rPr>
              <a:t> for dynamic network traffic monitoring, and MISP for continuous threat feed updates, the system offers comprehensive detection that is both explainable and actionable for end users. This solution emphasizes transparency, multi-layered analysis, and practical deployment, providing users with clear alerts and insights into suspicious app activities across mobile platforms. By leveraging existing robust technologies in an innovative, combined framework, the app enhances mobile device security against a wide spectrum of evolving threats.</a:t>
            </a:r>
            <a:endParaRPr dirty="0">
              <a:latin typeface="+mj-lt"/>
              <a:ea typeface="Cambria" panose="02040503050406030204" pitchFamily="18" charset="0"/>
            </a:endParaRPr>
          </a:p>
        </p:txBody>
      </p:sp>
    </p:spTree>
    <p:extLst>
      <p:ext uri="{BB962C8B-B14F-4D97-AF65-F5344CB8AC3E}">
        <p14:creationId xmlns:p14="http://schemas.microsoft.com/office/powerpoint/2010/main" val="3970980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4EB86F18-B1A7-8DEB-FCF9-B279F768A443}"/>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CBA48538-D76B-E68E-62AA-AB6A3E0D6BCB}"/>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mj-lt"/>
                <a:ea typeface="Cambria" panose="02040503050406030204" pitchFamily="18" charset="0"/>
              </a:rPr>
              <a:t>Literature Survey (sources in references)</a:t>
            </a:r>
            <a:endParaRPr dirty="0">
              <a:latin typeface="+mj-lt"/>
              <a:ea typeface="Cambria" panose="02040503050406030204" pitchFamily="18" charset="0"/>
            </a:endParaRPr>
          </a:p>
        </p:txBody>
      </p:sp>
      <p:sp>
        <p:nvSpPr>
          <p:cNvPr id="97" name="Google Shape;97;p14">
            <a:extLst>
              <a:ext uri="{FF2B5EF4-FFF2-40B4-BE49-F238E27FC236}">
                <a16:creationId xmlns:a16="http://schemas.microsoft.com/office/drawing/2014/main" id="{788EDFD7-3BB7-2DE4-C46E-4FB10CE7D7C6}"/>
              </a:ext>
            </a:extLst>
          </p:cNvPr>
          <p:cNvSpPr txBox="1">
            <a:spLocks noGrp="1"/>
          </p:cNvSpPr>
          <p:nvPr>
            <p:ph type="body" idx="1"/>
          </p:nvPr>
        </p:nvSpPr>
        <p:spPr>
          <a:xfrm>
            <a:off x="655782" y="1329113"/>
            <a:ext cx="10668000" cy="3924299"/>
          </a:xfrm>
          <a:prstGeom prst="rect">
            <a:avLst/>
          </a:prstGeom>
          <a:noFill/>
          <a:ln>
            <a:noFill/>
          </a:ln>
        </p:spPr>
        <p:txBody>
          <a:bodyPr spcFirstLastPara="1" wrap="square" lIns="91425" tIns="45700" rIns="91425" bIns="45700" anchor="t" anchorCtr="0">
            <a:normAutofit fontScale="92500" lnSpcReduction="10000"/>
          </a:bodyPr>
          <a:lstStyle/>
          <a:p>
            <a:pPr marL="76200" indent="0">
              <a:buNone/>
            </a:pPr>
            <a:r>
              <a:rPr lang="en-US" b="1" dirty="0">
                <a:latin typeface="+mj-lt"/>
              </a:rPr>
              <a:t>Integration and Interpretability in Hybrid Detection</a:t>
            </a:r>
          </a:p>
          <a:p>
            <a:pPr marL="76200" indent="0">
              <a:buNone/>
            </a:pPr>
            <a:endParaRPr lang="en-US" dirty="0">
              <a:latin typeface="+mj-lt"/>
            </a:endParaRPr>
          </a:p>
          <a:p>
            <a:r>
              <a:rPr lang="en-US" dirty="0">
                <a:latin typeface="+mj-lt"/>
              </a:rPr>
              <a:t>Hybrid malware detection combines static analysis (permissions, API and system call graphs) with dynamic analysis (runtime behaviors, network activity, system calls) to address limitations of single approaches and improve detection comprehensiveness.</a:t>
            </a:r>
          </a:p>
          <a:p>
            <a:r>
              <a:rPr lang="en-US" dirty="0">
                <a:latin typeface="+mj-lt"/>
              </a:rPr>
              <a:t>Explainability is enhanced using visualization techniques like Grad-CAM heatmaps on CNN classifiers to highlight critical API calls, helping reduce black-box issues in ML-based detection.</a:t>
            </a:r>
          </a:p>
          <a:p>
            <a:r>
              <a:rPr lang="en-US" dirty="0">
                <a:latin typeface="+mj-lt"/>
              </a:rPr>
              <a:t>Feature engineering focusing on selecting top-ranked permissions and system calls improves classification accuracy and robustness, as demonstrated in recent studies.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mj-lt"/>
              <a:ea typeface="Cambria" panose="02040503050406030204" pitchFamily="18" charset="0"/>
            </a:endParaRPr>
          </a:p>
        </p:txBody>
      </p:sp>
    </p:spTree>
    <p:extLst>
      <p:ext uri="{BB962C8B-B14F-4D97-AF65-F5344CB8AC3E}">
        <p14:creationId xmlns:p14="http://schemas.microsoft.com/office/powerpoint/2010/main" val="1598174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65E3176E-AD30-DAEF-B1F8-5A27D7991C67}"/>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D7EDE4A8-37E9-2A55-EC59-8949D650E208}"/>
              </a:ext>
            </a:extLst>
          </p:cNvPr>
          <p:cNvSpPr txBox="1">
            <a:spLocks noGrp="1"/>
          </p:cNvSpPr>
          <p:nvPr>
            <p:ph type="title"/>
          </p:nvPr>
        </p:nvSpPr>
        <p:spPr>
          <a:xfrm>
            <a:off x="82423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mj-lt"/>
                <a:ea typeface="Cambria" panose="02040503050406030204" pitchFamily="18" charset="0"/>
              </a:rPr>
              <a:t>Literature Survey (cont.) </a:t>
            </a:r>
            <a:endParaRPr dirty="0">
              <a:latin typeface="+mj-lt"/>
              <a:ea typeface="Cambria" panose="02040503050406030204" pitchFamily="18" charset="0"/>
            </a:endParaRPr>
          </a:p>
        </p:txBody>
      </p:sp>
      <p:sp>
        <p:nvSpPr>
          <p:cNvPr id="97" name="Google Shape;97;p14">
            <a:extLst>
              <a:ext uri="{FF2B5EF4-FFF2-40B4-BE49-F238E27FC236}">
                <a16:creationId xmlns:a16="http://schemas.microsoft.com/office/drawing/2014/main" id="{BEC14ACB-BC97-CFD0-0D37-32E34C315281}"/>
              </a:ext>
            </a:extLst>
          </p:cNvPr>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92500" lnSpcReduction="20000"/>
          </a:bodyPr>
          <a:lstStyle/>
          <a:p>
            <a:pPr marL="76200" indent="0">
              <a:buNone/>
            </a:pPr>
            <a:r>
              <a:rPr lang="en-US" b="1" dirty="0">
                <a:latin typeface="+mj-lt"/>
              </a:rPr>
              <a:t>Efficient Detection Workflows and Model Performance</a:t>
            </a:r>
          </a:p>
          <a:p>
            <a:endParaRPr lang="en-US" dirty="0">
              <a:latin typeface="+mj-lt"/>
            </a:endParaRPr>
          </a:p>
          <a:p>
            <a:r>
              <a:rPr lang="en-US" dirty="0">
                <a:latin typeface="+mj-lt"/>
              </a:rPr>
              <a:t>Two-stage workflows use lightweight static classifiers to filter clear benign or malicious samples early, reserving resource-intensive hybrid analysis for ambiguous apps, thus optimizing detection efficiency without compromising accuracy.</a:t>
            </a:r>
          </a:p>
          <a:p>
            <a:r>
              <a:rPr lang="en-US" dirty="0">
                <a:latin typeface="+mj-lt"/>
              </a:rPr>
              <a:t>Ensemble methods like Random Forest often outperform other ML algorithms when combining static and dynamic features, providing reliable malware detection with balanced data.</a:t>
            </a:r>
          </a:p>
          <a:p>
            <a:r>
              <a:rPr lang="en-US" dirty="0">
                <a:latin typeface="+mj-lt"/>
              </a:rPr>
              <a:t>Dataset quality impacts detection; continuously updated datasets reflecting current malware variability are critical to maintain model effectiveness and adapt to new threats.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mj-lt"/>
              <a:ea typeface="Cambria" panose="02040503050406030204" pitchFamily="18" charset="0"/>
            </a:endParaRPr>
          </a:p>
        </p:txBody>
      </p:sp>
    </p:spTree>
    <p:extLst>
      <p:ext uri="{BB962C8B-B14F-4D97-AF65-F5344CB8AC3E}">
        <p14:creationId xmlns:p14="http://schemas.microsoft.com/office/powerpoint/2010/main" val="3458043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C5D06529-208B-C0F5-D8E6-2D7641038AFF}"/>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E2F17F4F-9E7E-24FB-08E5-BE0A944D14B3}"/>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mj-lt"/>
                <a:ea typeface="Cambria" panose="02040503050406030204" pitchFamily="18" charset="0"/>
              </a:rPr>
              <a:t>Literature Survey (cont.)</a:t>
            </a:r>
            <a:endParaRPr dirty="0">
              <a:latin typeface="+mj-lt"/>
              <a:ea typeface="Cambria" panose="02040503050406030204" pitchFamily="18" charset="0"/>
            </a:endParaRPr>
          </a:p>
        </p:txBody>
      </p:sp>
      <p:sp>
        <p:nvSpPr>
          <p:cNvPr id="97" name="Google Shape;97;p14">
            <a:extLst>
              <a:ext uri="{FF2B5EF4-FFF2-40B4-BE49-F238E27FC236}">
                <a16:creationId xmlns:a16="http://schemas.microsoft.com/office/drawing/2014/main" id="{4A57345E-DBFE-D3BE-F810-04154BE42AD0}"/>
              </a:ext>
            </a:extLst>
          </p:cNvPr>
          <p:cNvSpPr txBox="1">
            <a:spLocks noGrp="1"/>
          </p:cNvSpPr>
          <p:nvPr>
            <p:ph type="body" idx="1"/>
          </p:nvPr>
        </p:nvSpPr>
        <p:spPr>
          <a:xfrm>
            <a:off x="655782" y="1466273"/>
            <a:ext cx="10668000" cy="4453264"/>
          </a:xfrm>
          <a:prstGeom prst="rect">
            <a:avLst/>
          </a:prstGeom>
          <a:noFill/>
          <a:ln>
            <a:noFill/>
          </a:ln>
        </p:spPr>
        <p:txBody>
          <a:bodyPr spcFirstLastPara="1" wrap="square" lIns="91425" tIns="45700" rIns="91425" bIns="45700" anchor="t" anchorCtr="0">
            <a:normAutofit lnSpcReduction="10000"/>
          </a:bodyPr>
          <a:lstStyle/>
          <a:p>
            <a:pPr marL="76200" indent="0">
              <a:buNone/>
            </a:pPr>
            <a:r>
              <a:rPr lang="en-US" b="1" dirty="0">
                <a:latin typeface="+mj-lt"/>
              </a:rPr>
              <a:t>Challenges and Future Directions in Mobile Malware Detection</a:t>
            </a:r>
          </a:p>
          <a:p>
            <a:pPr marL="76200" indent="0">
              <a:buNone/>
            </a:pPr>
            <a:endParaRPr lang="en-US" b="1" dirty="0">
              <a:latin typeface="+mj-lt"/>
            </a:endParaRPr>
          </a:p>
          <a:p>
            <a:r>
              <a:rPr lang="en-US" dirty="0">
                <a:latin typeface="+mj-lt"/>
              </a:rPr>
              <a:t>Reliance on emulator environments limits the realism of malware detection; moving towards real device testing and on-device detection is essential but challenged by resource and security constraints.</a:t>
            </a:r>
          </a:p>
          <a:p>
            <a:r>
              <a:rPr lang="en-US" dirty="0">
                <a:latin typeface="+mj-lt"/>
              </a:rPr>
              <a:t>Balancing cloud-based processing with on-device analysis provides a scalable protection framework, where cloud can handle heavy computation while devices perform real-time detection, demanding hybrid deployment strategies.</a:t>
            </a:r>
          </a:p>
          <a:p>
            <a:r>
              <a:rPr lang="en-US" dirty="0">
                <a:latin typeface="+mj-lt"/>
              </a:rPr>
              <a:t>Improving malware behavior triggering through advanced input generation methods enhances dynamic analysis coverage and malware activation, critical for uncovering sophisticated threats.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mj-lt"/>
              <a:ea typeface="Cambria" panose="02040503050406030204" pitchFamily="18" charset="0"/>
            </a:endParaRPr>
          </a:p>
        </p:txBody>
      </p:sp>
    </p:spTree>
    <p:extLst>
      <p:ext uri="{BB962C8B-B14F-4D97-AF65-F5344CB8AC3E}">
        <p14:creationId xmlns:p14="http://schemas.microsoft.com/office/powerpoint/2010/main" val="2651641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8F47DE59-4ECE-9BB0-5B00-18FEF80543A4}"/>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3582ADEC-052C-A983-AADC-6DFA881DA601}"/>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mj-lt"/>
                <a:ea typeface="Cambria" panose="02040503050406030204" pitchFamily="18" charset="0"/>
              </a:rPr>
              <a:t>Objectives</a:t>
            </a:r>
            <a:endParaRPr dirty="0">
              <a:latin typeface="+mj-lt"/>
              <a:ea typeface="Cambria" panose="02040503050406030204" pitchFamily="18" charset="0"/>
            </a:endParaRPr>
          </a:p>
        </p:txBody>
      </p:sp>
      <p:sp>
        <p:nvSpPr>
          <p:cNvPr id="2" name="Text Placeholder 1">
            <a:extLst>
              <a:ext uri="{FF2B5EF4-FFF2-40B4-BE49-F238E27FC236}">
                <a16:creationId xmlns:a16="http://schemas.microsoft.com/office/drawing/2014/main" id="{A6E53F63-E94C-450C-EFDC-106C2F2CC4BE}"/>
              </a:ext>
            </a:extLst>
          </p:cNvPr>
          <p:cNvSpPr>
            <a:spLocks noGrp="1" noChangeArrowheads="1"/>
          </p:cNvSpPr>
          <p:nvPr>
            <p:ph type="body" idx="1"/>
          </p:nvPr>
        </p:nvSpPr>
        <p:spPr bwMode="auto">
          <a:xfrm>
            <a:off x="655638" y="1305342"/>
            <a:ext cx="10183812"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ClrTx/>
              <a:buSzTx/>
            </a:pPr>
            <a:r>
              <a:rPr kumimoji="0" lang="en-US" altLang="en-US" sz="1800" b="1" i="0" u="none" strike="noStrike" cap="none" normalizeH="0" baseline="0" dirty="0">
                <a:ln>
                  <a:noFill/>
                </a:ln>
                <a:solidFill>
                  <a:schemeClr val="tx1"/>
                </a:solidFill>
                <a:effectLst/>
                <a:latin typeface="+mj-lt"/>
              </a:rPr>
              <a:t>Develop a hybrid detection system</a:t>
            </a:r>
            <a:r>
              <a:rPr kumimoji="0" lang="en-US" altLang="en-US" sz="1800" b="0" i="0" u="none" strike="noStrike" cap="none" normalizeH="0" baseline="0" dirty="0">
                <a:ln>
                  <a:noFill/>
                </a:ln>
                <a:solidFill>
                  <a:schemeClr val="tx1"/>
                </a:solidFill>
                <a:effectLst/>
                <a:latin typeface="+mj-lt"/>
              </a:rPr>
              <a:t> that combines </a:t>
            </a:r>
            <a:r>
              <a:rPr kumimoji="0" lang="en-US" altLang="en-US" sz="1800" b="1" i="0" u="none" strike="noStrike" cap="none" normalizeH="0" baseline="0" dirty="0">
                <a:ln>
                  <a:noFill/>
                </a:ln>
                <a:solidFill>
                  <a:schemeClr val="tx1"/>
                </a:solidFill>
                <a:effectLst/>
                <a:latin typeface="+mj-lt"/>
              </a:rPr>
              <a:t>static analysis</a:t>
            </a:r>
            <a:r>
              <a:rPr kumimoji="0" lang="en-US" altLang="en-US" sz="1800" b="0" i="0" u="none" strike="noStrike" cap="none" normalizeH="0" baseline="0" dirty="0">
                <a:ln>
                  <a:noFill/>
                </a:ln>
                <a:solidFill>
                  <a:schemeClr val="tx1"/>
                </a:solidFill>
                <a:effectLst/>
                <a:latin typeface="+mj-lt"/>
              </a:rPr>
              <a:t> (app permissions, code structure), </a:t>
            </a:r>
            <a:r>
              <a:rPr kumimoji="0" lang="en-US" altLang="en-US" sz="1800" b="1" i="0" u="none" strike="noStrike" cap="none" normalizeH="0" baseline="0" dirty="0">
                <a:ln>
                  <a:noFill/>
                </a:ln>
                <a:solidFill>
                  <a:schemeClr val="tx1"/>
                </a:solidFill>
                <a:effectLst/>
                <a:latin typeface="+mj-lt"/>
              </a:rPr>
              <a:t>dynamic analysis</a:t>
            </a:r>
            <a:r>
              <a:rPr kumimoji="0" lang="en-US" altLang="en-US" sz="1800" b="0" i="0" u="none" strike="noStrike" cap="none" normalizeH="0" baseline="0" dirty="0">
                <a:ln>
                  <a:noFill/>
                </a:ln>
                <a:solidFill>
                  <a:schemeClr val="tx1"/>
                </a:solidFill>
                <a:effectLst/>
                <a:latin typeface="+mj-lt"/>
              </a:rPr>
              <a:t> (runtime behaviors, system calls), and </a:t>
            </a:r>
            <a:r>
              <a:rPr kumimoji="0" lang="en-US" altLang="en-US" sz="1800" b="1" i="0" u="none" strike="noStrike" cap="none" normalizeH="0" baseline="0" dirty="0">
                <a:ln>
                  <a:noFill/>
                </a:ln>
                <a:solidFill>
                  <a:schemeClr val="tx1"/>
                </a:solidFill>
                <a:effectLst/>
                <a:latin typeface="+mj-lt"/>
              </a:rPr>
              <a:t>network traffic monitoring</a:t>
            </a:r>
            <a:r>
              <a:rPr kumimoji="0" lang="en-US" altLang="en-US" sz="1800" b="0" i="0" u="none" strike="noStrike" cap="none" normalizeH="0" baseline="0" dirty="0">
                <a:ln>
                  <a:noFill/>
                </a:ln>
                <a:solidFill>
                  <a:schemeClr val="tx1"/>
                </a:solidFill>
                <a:effectLst/>
                <a:latin typeface="+mj-lt"/>
              </a:rPr>
              <a:t> to identify malicious mobile applications.</a:t>
            </a:r>
          </a:p>
          <a:p>
            <a:pPr marL="285750" indent="-285750" eaLnBrk="0" fontAlgn="base" hangingPunct="0">
              <a:spcBef>
                <a:spcPct val="0"/>
              </a:spcBef>
              <a:spcAft>
                <a:spcPct val="0"/>
              </a:spcAft>
              <a:buClrTx/>
              <a:buSzTx/>
            </a:pPr>
            <a:r>
              <a:rPr kumimoji="0" lang="en-US" altLang="en-US" sz="1800" b="1" i="0" u="none" strike="noStrike" cap="none" normalizeH="0" baseline="0" dirty="0">
                <a:ln>
                  <a:noFill/>
                </a:ln>
                <a:solidFill>
                  <a:schemeClr val="tx1"/>
                </a:solidFill>
                <a:effectLst/>
                <a:latin typeface="+mj-lt"/>
              </a:rPr>
              <a:t>Integrate open-source tools and threat intelligence feeds</a:t>
            </a:r>
            <a:r>
              <a:rPr kumimoji="0" lang="en-US" altLang="en-US" sz="1800" b="0" i="0" u="none" strike="noStrike" cap="none" normalizeH="0" baseline="0" dirty="0">
                <a:ln>
                  <a:noFill/>
                </a:ln>
                <a:solidFill>
                  <a:schemeClr val="tx1"/>
                </a:solidFill>
                <a:effectLst/>
                <a:latin typeface="+mj-lt"/>
              </a:rPr>
              <a:t> (</a:t>
            </a:r>
            <a:r>
              <a:rPr kumimoji="0" lang="en-US" altLang="en-US" sz="1800" b="0" i="0" u="none" strike="noStrike" cap="none" normalizeH="0" baseline="0" dirty="0" err="1">
                <a:ln>
                  <a:noFill/>
                </a:ln>
                <a:solidFill>
                  <a:schemeClr val="tx1"/>
                </a:solidFill>
                <a:effectLst/>
                <a:latin typeface="+mj-lt"/>
              </a:rPr>
              <a:t>MobSF</a:t>
            </a:r>
            <a:r>
              <a:rPr kumimoji="0" lang="en-US" altLang="en-US" sz="1800" b="0" i="0" u="none" strike="noStrike" cap="none" normalizeH="0" baseline="0" dirty="0">
                <a:ln>
                  <a:noFill/>
                </a:ln>
                <a:solidFill>
                  <a:schemeClr val="tx1"/>
                </a:solidFill>
                <a:effectLst/>
                <a:latin typeface="+mj-lt"/>
              </a:rPr>
              <a:t>, </a:t>
            </a:r>
            <a:r>
              <a:rPr kumimoji="0" lang="en-US" altLang="en-US" sz="1800" b="0" i="0" u="none" strike="noStrike" cap="none" normalizeH="0" baseline="0" dirty="0" err="1">
                <a:ln>
                  <a:noFill/>
                </a:ln>
                <a:solidFill>
                  <a:schemeClr val="tx1"/>
                </a:solidFill>
                <a:effectLst/>
                <a:latin typeface="+mj-lt"/>
              </a:rPr>
              <a:t>Scapy</a:t>
            </a:r>
            <a:r>
              <a:rPr kumimoji="0" lang="en-US" altLang="en-US" sz="1800" b="0" i="0" u="none" strike="noStrike" cap="none" normalizeH="0" baseline="0" dirty="0">
                <a:ln>
                  <a:noFill/>
                </a:ln>
                <a:solidFill>
                  <a:schemeClr val="tx1"/>
                </a:solidFill>
                <a:effectLst/>
                <a:latin typeface="+mj-lt"/>
              </a:rPr>
              <a:t>, MISP) to ensure </a:t>
            </a:r>
            <a:r>
              <a:rPr kumimoji="0" lang="en-US" altLang="en-US" sz="1800" b="1" i="0" u="none" strike="noStrike" cap="none" normalizeH="0" baseline="0" dirty="0">
                <a:ln>
                  <a:noFill/>
                </a:ln>
                <a:solidFill>
                  <a:schemeClr val="tx1"/>
                </a:solidFill>
                <a:effectLst/>
                <a:latin typeface="+mj-lt"/>
              </a:rPr>
              <a:t>real-time detection</a:t>
            </a:r>
            <a:r>
              <a:rPr kumimoji="0" lang="en-US" altLang="en-US" sz="1800" b="0" i="0" u="none" strike="noStrike" cap="none" normalizeH="0" baseline="0" dirty="0">
                <a:ln>
                  <a:noFill/>
                </a:ln>
                <a:solidFill>
                  <a:schemeClr val="tx1"/>
                </a:solidFill>
                <a:effectLst/>
                <a:latin typeface="+mj-lt"/>
              </a:rPr>
              <a:t> of new and evolving malware variants.</a:t>
            </a:r>
          </a:p>
          <a:p>
            <a:pPr marL="285750" indent="-285750" eaLnBrk="0" fontAlgn="base" hangingPunct="0">
              <a:spcBef>
                <a:spcPct val="0"/>
              </a:spcBef>
              <a:spcAft>
                <a:spcPct val="0"/>
              </a:spcAft>
              <a:buClrTx/>
              <a:buSzTx/>
            </a:pPr>
            <a:r>
              <a:rPr kumimoji="0" lang="en-US" altLang="en-US" sz="1800" b="1" i="0" u="none" strike="noStrike" cap="none" normalizeH="0" baseline="0" dirty="0">
                <a:ln>
                  <a:noFill/>
                </a:ln>
                <a:solidFill>
                  <a:schemeClr val="tx1"/>
                </a:solidFill>
                <a:effectLst/>
                <a:latin typeface="+mj-lt"/>
              </a:rPr>
              <a:t>Provide explainable and transparent alerts</a:t>
            </a:r>
            <a:r>
              <a:rPr kumimoji="0" lang="en-US" altLang="en-US" sz="1800" b="0" i="0" u="none" strike="noStrike" cap="none" normalizeH="0" baseline="0" dirty="0">
                <a:ln>
                  <a:noFill/>
                </a:ln>
                <a:solidFill>
                  <a:schemeClr val="tx1"/>
                </a:solidFill>
                <a:effectLst/>
                <a:latin typeface="+mj-lt"/>
              </a:rPr>
              <a:t> to end users, clearly showing </a:t>
            </a:r>
            <a:r>
              <a:rPr kumimoji="0" lang="en-US" altLang="en-US" sz="1800" b="1" i="0" u="none" strike="noStrike" cap="none" normalizeH="0" baseline="0" dirty="0">
                <a:ln>
                  <a:noFill/>
                </a:ln>
                <a:solidFill>
                  <a:schemeClr val="tx1"/>
                </a:solidFill>
                <a:effectLst/>
                <a:latin typeface="+mj-lt"/>
              </a:rPr>
              <a:t>why an app is flagged</a:t>
            </a:r>
            <a:r>
              <a:rPr kumimoji="0" lang="en-US" altLang="en-US" sz="1800" b="0" i="0" u="none" strike="noStrike" cap="none" normalizeH="0" baseline="0" dirty="0">
                <a:ln>
                  <a:noFill/>
                </a:ln>
                <a:solidFill>
                  <a:schemeClr val="tx1"/>
                </a:solidFill>
                <a:effectLst/>
                <a:latin typeface="+mj-lt"/>
              </a:rPr>
              <a:t> as malicious (permissions, suspicious traffic, abnormal background processes).</a:t>
            </a:r>
          </a:p>
          <a:p>
            <a:pPr marL="285750" indent="-285750" eaLnBrk="0" fontAlgn="base" hangingPunct="0">
              <a:spcBef>
                <a:spcPct val="0"/>
              </a:spcBef>
              <a:spcAft>
                <a:spcPct val="0"/>
              </a:spcAft>
              <a:buClrTx/>
              <a:buSzTx/>
            </a:pPr>
            <a:r>
              <a:rPr kumimoji="0" lang="en-US" altLang="en-US" sz="1800" b="1" i="0" u="none" strike="noStrike" cap="none" normalizeH="0" baseline="0" dirty="0">
                <a:ln>
                  <a:noFill/>
                </a:ln>
                <a:solidFill>
                  <a:schemeClr val="tx1"/>
                </a:solidFill>
                <a:effectLst/>
                <a:latin typeface="+mj-lt"/>
              </a:rPr>
              <a:t>Ensure practical deployment</a:t>
            </a:r>
            <a:r>
              <a:rPr kumimoji="0" lang="en-US" altLang="en-US" sz="1800" b="0" i="0" u="none" strike="noStrike" cap="none" normalizeH="0" baseline="0" dirty="0">
                <a:ln>
                  <a:noFill/>
                </a:ln>
                <a:solidFill>
                  <a:schemeClr val="tx1"/>
                </a:solidFill>
                <a:effectLst/>
                <a:latin typeface="+mj-lt"/>
              </a:rPr>
              <a:t> by building a </a:t>
            </a:r>
            <a:r>
              <a:rPr kumimoji="0" lang="en-US" altLang="en-US" sz="1800" b="1" i="0" u="none" strike="noStrike" cap="none" normalizeH="0" baseline="0" dirty="0">
                <a:ln>
                  <a:noFill/>
                </a:ln>
                <a:solidFill>
                  <a:schemeClr val="tx1"/>
                </a:solidFill>
                <a:effectLst/>
                <a:latin typeface="+mj-lt"/>
              </a:rPr>
              <a:t>cross-platform mobile app</a:t>
            </a:r>
            <a:r>
              <a:rPr kumimoji="0" lang="en-US" altLang="en-US" sz="1800" b="0" i="0" u="none" strike="noStrike" cap="none" normalizeH="0" baseline="0" dirty="0">
                <a:ln>
                  <a:noFill/>
                </a:ln>
                <a:solidFill>
                  <a:schemeClr val="tx1"/>
                </a:solidFill>
                <a:effectLst/>
                <a:latin typeface="+mj-lt"/>
              </a:rPr>
              <a:t> (React Native frontend, </a:t>
            </a:r>
            <a:r>
              <a:rPr kumimoji="0" lang="en-US" altLang="en-US" sz="1800" b="0" i="0" u="none" strike="noStrike" cap="none" normalizeH="0" baseline="0" dirty="0" err="1">
                <a:ln>
                  <a:noFill/>
                </a:ln>
                <a:solidFill>
                  <a:schemeClr val="tx1"/>
                </a:solidFill>
                <a:effectLst/>
                <a:latin typeface="+mj-lt"/>
              </a:rPr>
              <a:t>FastAPI</a:t>
            </a:r>
            <a:r>
              <a:rPr kumimoji="0" lang="en-US" altLang="en-US" sz="1800" b="0" i="0" u="none" strike="noStrike" cap="none" normalizeH="0" baseline="0" dirty="0">
                <a:ln>
                  <a:noFill/>
                </a:ln>
                <a:solidFill>
                  <a:schemeClr val="tx1"/>
                </a:solidFill>
                <a:effectLst/>
                <a:latin typeface="+mj-lt"/>
              </a:rPr>
              <a:t> backend, MongoDB Atlas database).</a:t>
            </a:r>
          </a:p>
          <a:p>
            <a:pPr marL="285750" indent="-285750" eaLnBrk="0" fontAlgn="base" hangingPunct="0">
              <a:spcBef>
                <a:spcPct val="0"/>
              </a:spcBef>
              <a:spcAft>
                <a:spcPct val="0"/>
              </a:spcAft>
              <a:buClrTx/>
              <a:buSzTx/>
            </a:pPr>
            <a:r>
              <a:rPr kumimoji="0" lang="en-US" altLang="en-US" sz="1800" b="1" i="0" u="none" strike="noStrike" cap="none" normalizeH="0" baseline="0" dirty="0">
                <a:ln>
                  <a:noFill/>
                </a:ln>
                <a:solidFill>
                  <a:schemeClr val="tx1"/>
                </a:solidFill>
                <a:effectLst/>
                <a:latin typeface="+mj-lt"/>
              </a:rPr>
              <a:t>Enhance user security and privacy</a:t>
            </a:r>
            <a:r>
              <a:rPr kumimoji="0" lang="en-US" altLang="en-US" sz="1800" b="0" i="0" u="none" strike="noStrike" cap="none" normalizeH="0" baseline="0" dirty="0">
                <a:ln>
                  <a:noFill/>
                </a:ln>
                <a:solidFill>
                  <a:schemeClr val="tx1"/>
                </a:solidFill>
                <a:effectLst/>
                <a:latin typeface="+mj-lt"/>
              </a:rPr>
              <a:t> by detecting hidden malicious activities such as:</a:t>
            </a:r>
          </a:p>
          <a:p>
            <a:pPr marL="285750" indent="-28575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latin typeface="+mj-lt"/>
              </a:rPr>
              <a:t>Unauthorized data transfers</a:t>
            </a:r>
          </a:p>
          <a:p>
            <a:pPr marL="285750" indent="-28575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latin typeface="+mj-lt"/>
              </a:rPr>
              <a:t>Suspicious network communications</a:t>
            </a:r>
          </a:p>
          <a:p>
            <a:pPr marL="285750" indent="-28575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latin typeface="+mj-lt"/>
              </a:rPr>
              <a:t>Abnormal background processes</a:t>
            </a:r>
          </a:p>
          <a:p>
            <a:pPr marL="285750" indent="-285750" eaLnBrk="0" fontAlgn="base" hangingPunct="0">
              <a:spcBef>
                <a:spcPct val="0"/>
              </a:spcBef>
              <a:spcAft>
                <a:spcPct val="0"/>
              </a:spcAft>
              <a:buClrTx/>
              <a:buSzTx/>
            </a:pPr>
            <a:r>
              <a:rPr kumimoji="0" lang="en-US" altLang="en-US" sz="1800" b="1" i="0" u="none" strike="noStrike" cap="none" normalizeH="0" baseline="0" dirty="0">
                <a:ln>
                  <a:noFill/>
                </a:ln>
                <a:solidFill>
                  <a:schemeClr val="tx1"/>
                </a:solidFill>
                <a:effectLst/>
                <a:latin typeface="+mj-lt"/>
              </a:rPr>
              <a:t>Improve over existing methods</a:t>
            </a:r>
            <a:r>
              <a:rPr kumimoji="0" lang="en-US" altLang="en-US" sz="1800" b="0" i="0" u="none" strike="noStrike" cap="none" normalizeH="0" baseline="0" dirty="0">
                <a:ln>
                  <a:noFill/>
                </a:ln>
                <a:solidFill>
                  <a:schemeClr val="tx1"/>
                </a:solidFill>
                <a:effectLst/>
                <a:latin typeface="+mj-lt"/>
              </a:rPr>
              <a:t> by creating a </a:t>
            </a:r>
            <a:r>
              <a:rPr kumimoji="0" lang="en-US" altLang="en-US" sz="1800" b="1" i="0" u="none" strike="noStrike" cap="none" normalizeH="0" baseline="0" dirty="0">
                <a:ln>
                  <a:noFill/>
                </a:ln>
                <a:solidFill>
                  <a:schemeClr val="tx1"/>
                </a:solidFill>
                <a:effectLst/>
                <a:latin typeface="+mj-lt"/>
              </a:rPr>
              <a:t>lightweight, scalable, and deployment-ready system</a:t>
            </a:r>
            <a:r>
              <a:rPr kumimoji="0" lang="en-US" altLang="en-US" sz="1800" b="0" i="0" u="none" strike="noStrike" cap="none" normalizeH="0" baseline="0" dirty="0">
                <a:ln>
                  <a:noFill/>
                </a:ln>
                <a:solidFill>
                  <a:schemeClr val="tx1"/>
                </a:solidFill>
                <a:effectLst/>
                <a:latin typeface="+mj-lt"/>
              </a:rPr>
              <a:t> instead of only academic or emulator-based solutions.</a:t>
            </a:r>
          </a:p>
        </p:txBody>
      </p:sp>
    </p:spTree>
    <p:extLst>
      <p:ext uri="{BB962C8B-B14F-4D97-AF65-F5344CB8AC3E}">
        <p14:creationId xmlns:p14="http://schemas.microsoft.com/office/powerpoint/2010/main" val="2780357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9891FCDA-ED91-31E0-807A-039E9F167998}"/>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7D225EFE-03E2-4081-F634-E547AE54F9C5}"/>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mj-lt"/>
                <a:ea typeface="Cambria" panose="02040503050406030204" pitchFamily="18" charset="0"/>
              </a:rPr>
              <a:t>Existing Methods and Drawbacks</a:t>
            </a:r>
            <a:endParaRPr dirty="0">
              <a:latin typeface="+mj-lt"/>
              <a:ea typeface="Cambria" panose="02040503050406030204" pitchFamily="18" charset="0"/>
            </a:endParaRPr>
          </a:p>
        </p:txBody>
      </p:sp>
      <p:sp>
        <p:nvSpPr>
          <p:cNvPr id="3" name="TextBox 2">
            <a:extLst>
              <a:ext uri="{FF2B5EF4-FFF2-40B4-BE49-F238E27FC236}">
                <a16:creationId xmlns:a16="http://schemas.microsoft.com/office/drawing/2014/main" id="{6CD2BD67-D6CB-689C-B470-940DC9B05484}"/>
              </a:ext>
            </a:extLst>
          </p:cNvPr>
          <p:cNvSpPr txBox="1"/>
          <p:nvPr/>
        </p:nvSpPr>
        <p:spPr>
          <a:xfrm>
            <a:off x="812800" y="1098356"/>
            <a:ext cx="10668000" cy="3046988"/>
          </a:xfrm>
          <a:prstGeom prst="rect">
            <a:avLst/>
          </a:prstGeom>
          <a:noFill/>
        </p:spPr>
        <p:txBody>
          <a:bodyPr wrap="square">
            <a:spAutoFit/>
          </a:bodyPr>
          <a:lstStyle/>
          <a:p>
            <a:r>
              <a:rPr lang="en-IN" sz="1600" b="1" dirty="0">
                <a:latin typeface="+mj-lt"/>
              </a:rPr>
              <a:t>Current Scenario:</a:t>
            </a:r>
          </a:p>
          <a:p>
            <a:r>
              <a:rPr lang="en-IN" sz="1600" dirty="0">
                <a:latin typeface="+mj-lt"/>
              </a:rPr>
              <a:t>Mobile devices, particularly Android, dominate the market with a vast app ecosystem that cybercriminals exploit via third-party stores and platform fragmentation. </a:t>
            </a:r>
          </a:p>
          <a:p>
            <a:pPr marL="285750" indent="-285750">
              <a:buFont typeface="Arial" panose="020B0604020202020204" pitchFamily="34" charset="0"/>
              <a:buChar char="•"/>
            </a:pPr>
            <a:r>
              <a:rPr lang="en-US" sz="1600" dirty="0">
                <a:latin typeface="+mj-lt"/>
              </a:rPr>
              <a:t>60% of security flaws are found on the client (mobile device) side</a:t>
            </a:r>
          </a:p>
          <a:p>
            <a:pPr marL="285750" indent="-285750">
              <a:buFont typeface="Arial" panose="020B0604020202020204" pitchFamily="34" charset="0"/>
              <a:buChar char="•"/>
            </a:pPr>
            <a:r>
              <a:rPr lang="en-US" sz="1600" dirty="0">
                <a:latin typeface="+mj-lt"/>
              </a:rPr>
              <a:t>Android accounts for 43% of client-side vulnerabilities, compared to iOS with 38%.</a:t>
            </a:r>
          </a:p>
          <a:p>
            <a:endParaRPr lang="en-IN" sz="1600" dirty="0">
              <a:latin typeface="+mj-lt"/>
            </a:endParaRPr>
          </a:p>
          <a:p>
            <a:r>
              <a:rPr lang="en-IN" sz="1600" dirty="0">
                <a:latin typeface="+mj-lt"/>
              </a:rPr>
              <a:t>Common malware types: Trojans, ransomware, spyware, adware, keyloggers, and botnets that threaten user privacy, data, and finances. </a:t>
            </a:r>
          </a:p>
          <a:p>
            <a:r>
              <a:rPr lang="en-IN" sz="1600" dirty="0">
                <a:latin typeface="+mj-lt"/>
              </a:rPr>
              <a:t>Major security risks: Improper permissions, insecure storage, insecure communication, weak authentication, code tampering</a:t>
            </a:r>
          </a:p>
          <a:p>
            <a:br>
              <a:rPr lang="en-US" sz="1600" b="1" dirty="0">
                <a:latin typeface="+mj-lt"/>
              </a:rPr>
            </a:br>
            <a:endParaRPr lang="en-IN" sz="1600" b="1" dirty="0">
              <a:latin typeface="+mj-lt"/>
            </a:endParaRPr>
          </a:p>
        </p:txBody>
      </p:sp>
      <p:sp>
        <p:nvSpPr>
          <p:cNvPr id="4" name="TextBox 3">
            <a:extLst>
              <a:ext uri="{FF2B5EF4-FFF2-40B4-BE49-F238E27FC236}">
                <a16:creationId xmlns:a16="http://schemas.microsoft.com/office/drawing/2014/main" id="{1D8CCA79-E24C-A747-0D5E-8D27FA43DF6C}"/>
              </a:ext>
            </a:extLst>
          </p:cNvPr>
          <p:cNvSpPr txBox="1"/>
          <p:nvPr/>
        </p:nvSpPr>
        <p:spPr>
          <a:xfrm>
            <a:off x="6486802" y="3968192"/>
            <a:ext cx="5139635" cy="2062103"/>
          </a:xfrm>
          <a:prstGeom prst="rect">
            <a:avLst/>
          </a:prstGeom>
          <a:noFill/>
        </p:spPr>
        <p:txBody>
          <a:bodyPr wrap="square" rtlCol="0">
            <a:spAutoFit/>
          </a:bodyPr>
          <a:lstStyle/>
          <a:p>
            <a:r>
              <a:rPr lang="en-US" sz="1600" b="1" dirty="0">
                <a:latin typeface="+mj-lt"/>
              </a:rPr>
              <a:t>Drawbacks:</a:t>
            </a:r>
          </a:p>
          <a:p>
            <a:pPr marL="285750" indent="-285750">
              <a:buFont typeface="Arial" panose="020B0604020202020204" pitchFamily="34" charset="0"/>
              <a:buChar char="•"/>
            </a:pPr>
            <a:r>
              <a:rPr lang="en-US" sz="1600" dirty="0">
                <a:latin typeface="+mj-lt"/>
              </a:rPr>
              <a:t>Static analysis is limited by obfuscation, polymorphism, and zero-day threats.</a:t>
            </a:r>
          </a:p>
          <a:p>
            <a:pPr marL="285750" indent="-285750">
              <a:buFont typeface="Arial" panose="020B0604020202020204" pitchFamily="34" charset="0"/>
              <a:buChar char="•"/>
            </a:pPr>
            <a:r>
              <a:rPr lang="en-US" sz="1600" dirty="0">
                <a:latin typeface="+mj-lt"/>
              </a:rPr>
              <a:t>Dynamic analysis is resource-heavy and may miss some malware.</a:t>
            </a:r>
          </a:p>
          <a:p>
            <a:pPr marL="285750" indent="-285750">
              <a:buFont typeface="Arial" panose="020B0604020202020204" pitchFamily="34" charset="0"/>
              <a:buChar char="•"/>
            </a:pPr>
            <a:r>
              <a:rPr lang="en-US" sz="1600" dirty="0">
                <a:latin typeface="+mj-lt"/>
              </a:rPr>
              <a:t>Machine learning needs large data, is vulnerable to attacks, and is resource-intensive.</a:t>
            </a:r>
          </a:p>
          <a:p>
            <a:pPr marL="285750" indent="-285750">
              <a:buFont typeface="Arial" panose="020B0604020202020204" pitchFamily="34" charset="0"/>
              <a:buChar char="•"/>
            </a:pPr>
            <a:r>
              <a:rPr lang="en-US" sz="1600" dirty="0">
                <a:latin typeface="+mj-lt"/>
              </a:rPr>
              <a:t>Hybrid methods add complexity and resource use.</a:t>
            </a:r>
            <a:endParaRPr lang="en-IN" sz="1600" dirty="0">
              <a:latin typeface="+mj-lt"/>
            </a:endParaRPr>
          </a:p>
        </p:txBody>
      </p:sp>
      <p:sp>
        <p:nvSpPr>
          <p:cNvPr id="5" name="TextBox 4">
            <a:extLst>
              <a:ext uri="{FF2B5EF4-FFF2-40B4-BE49-F238E27FC236}">
                <a16:creationId xmlns:a16="http://schemas.microsoft.com/office/drawing/2014/main" id="{5E250BF9-ECC6-3682-7316-0E2BB6663085}"/>
              </a:ext>
            </a:extLst>
          </p:cNvPr>
          <p:cNvSpPr txBox="1"/>
          <p:nvPr/>
        </p:nvSpPr>
        <p:spPr>
          <a:xfrm>
            <a:off x="812799" y="3736427"/>
            <a:ext cx="5606662" cy="2277547"/>
          </a:xfrm>
          <a:prstGeom prst="rect">
            <a:avLst/>
          </a:prstGeom>
          <a:noFill/>
        </p:spPr>
        <p:txBody>
          <a:bodyPr wrap="square" rtlCol="0">
            <a:spAutoFit/>
          </a:bodyPr>
          <a:lstStyle/>
          <a:p>
            <a:endParaRPr lang="en-IN" sz="1600" dirty="0">
              <a:latin typeface="+mj-lt"/>
            </a:endParaRPr>
          </a:p>
          <a:p>
            <a:r>
              <a:rPr lang="en-IN" sz="1600" b="1" dirty="0">
                <a:latin typeface="+mj-lt"/>
              </a:rPr>
              <a:t>Analysis Methods:</a:t>
            </a:r>
          </a:p>
          <a:p>
            <a:pPr marL="285750" indent="-285750">
              <a:buFont typeface="Arial" panose="020B0604020202020204" pitchFamily="34" charset="0"/>
              <a:buChar char="•"/>
            </a:pPr>
            <a:r>
              <a:rPr lang="en-IN" sz="1600" dirty="0">
                <a:latin typeface="+mj-lt"/>
              </a:rPr>
              <a:t>TAN-Based Hybrid Model for Android Malware Detection</a:t>
            </a:r>
          </a:p>
          <a:p>
            <a:pPr marL="285750" indent="-285750">
              <a:buFont typeface="Arial" panose="020B0604020202020204" pitchFamily="34" charset="0"/>
              <a:buChar char="•"/>
            </a:pPr>
            <a:r>
              <a:rPr lang="en-IN" sz="1600" dirty="0">
                <a:latin typeface="+mj-lt"/>
              </a:rPr>
              <a:t>Static and Dynamic Analysis of Android Malware</a:t>
            </a:r>
          </a:p>
          <a:p>
            <a:pPr marL="285750" indent="-285750">
              <a:buFont typeface="Arial" panose="020B0604020202020204" pitchFamily="34" charset="0"/>
              <a:buChar char="•"/>
            </a:pPr>
            <a:r>
              <a:rPr lang="en-IN" sz="1600" dirty="0">
                <a:latin typeface="+mj-lt"/>
              </a:rPr>
              <a:t>Anomaly Detection Using One-Class K-Nearest </a:t>
            </a:r>
            <a:r>
              <a:rPr lang="en-IN" sz="1600" dirty="0" err="1">
                <a:latin typeface="+mj-lt"/>
              </a:rPr>
              <a:t>Neighbors</a:t>
            </a:r>
            <a:r>
              <a:rPr lang="en-IN" sz="1600" dirty="0">
                <a:latin typeface="+mj-lt"/>
              </a:rPr>
              <a:t> (OC-KNN)</a:t>
            </a:r>
          </a:p>
          <a:p>
            <a:pPr marL="285750" indent="-285750">
              <a:buFont typeface="Arial" panose="020B0604020202020204" pitchFamily="34" charset="0"/>
              <a:buChar char="•"/>
            </a:pPr>
            <a:r>
              <a:rPr lang="en-IN" sz="1600" dirty="0">
                <a:latin typeface="+mj-lt"/>
              </a:rPr>
              <a:t>SCANDAL: Static Analyzer for Privacy Leaks</a:t>
            </a:r>
          </a:p>
          <a:p>
            <a:pPr marL="285750" indent="-285750">
              <a:buFont typeface="Arial" panose="020B0604020202020204" pitchFamily="34" charset="0"/>
              <a:buChar char="•"/>
            </a:pPr>
            <a:r>
              <a:rPr lang="en-IN" sz="1600" dirty="0" err="1">
                <a:latin typeface="+mj-lt"/>
              </a:rPr>
              <a:t>DroidData</a:t>
            </a:r>
            <a:r>
              <a:rPr lang="en-IN" sz="1600" dirty="0">
                <a:latin typeface="+mj-lt"/>
              </a:rPr>
              <a:t>: Static and Dynamic Data Transfer Monitoring</a:t>
            </a:r>
          </a:p>
          <a:p>
            <a:endParaRPr lang="en-IN" dirty="0">
              <a:latin typeface="+mj-lt"/>
            </a:endParaRPr>
          </a:p>
        </p:txBody>
      </p:sp>
    </p:spTree>
    <p:extLst>
      <p:ext uri="{BB962C8B-B14F-4D97-AF65-F5344CB8AC3E}">
        <p14:creationId xmlns:p14="http://schemas.microsoft.com/office/powerpoint/2010/main" val="237729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7E656765-D6D0-9924-B466-FA530D412184}"/>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DC84D6FB-7AC6-5ACA-26B6-8AE48C7C1800}"/>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mj-lt"/>
                <a:ea typeface="Cambria" panose="02040503050406030204" pitchFamily="18" charset="0"/>
              </a:rPr>
              <a:t>Existing Methods and Drawbacks (cont.)</a:t>
            </a:r>
            <a:endParaRPr dirty="0">
              <a:latin typeface="+mj-lt"/>
              <a:ea typeface="Cambria" panose="02040503050406030204" pitchFamily="18" charset="0"/>
            </a:endParaRPr>
          </a:p>
        </p:txBody>
      </p:sp>
      <p:sp>
        <p:nvSpPr>
          <p:cNvPr id="9" name="TextBox 8">
            <a:extLst>
              <a:ext uri="{FF2B5EF4-FFF2-40B4-BE49-F238E27FC236}">
                <a16:creationId xmlns:a16="http://schemas.microsoft.com/office/drawing/2014/main" id="{DCB99D64-43AA-4917-972E-7D6DC36EAF75}"/>
              </a:ext>
            </a:extLst>
          </p:cNvPr>
          <p:cNvSpPr txBox="1"/>
          <p:nvPr/>
        </p:nvSpPr>
        <p:spPr>
          <a:xfrm>
            <a:off x="812800" y="1339058"/>
            <a:ext cx="4195989" cy="4401205"/>
          </a:xfrm>
          <a:prstGeom prst="rect">
            <a:avLst/>
          </a:prstGeom>
          <a:noFill/>
        </p:spPr>
        <p:txBody>
          <a:bodyPr wrap="square">
            <a:spAutoFit/>
          </a:bodyPr>
          <a:lstStyle/>
          <a:p>
            <a:pPr marR="0" algn="l" rtl="0">
              <a:buNone/>
            </a:pPr>
            <a:r>
              <a:rPr lang="en-US" sz="1400" b="1" i="0" dirty="0">
                <a:solidFill>
                  <a:srgbClr val="000000"/>
                </a:solidFill>
                <a:effectLst/>
                <a:latin typeface="Cambria" panose="02040503050406030204" pitchFamily="18" charset="0"/>
                <a:ea typeface="Arial" panose="020B0604020202020204" pitchFamily="34" charset="0"/>
                <a:cs typeface="Arial" panose="020B0604020202020204" pitchFamily="34" charset="0"/>
              </a:rPr>
              <a:t>Goal:</a:t>
            </a:r>
            <a:endParaRPr lang="en-IN" dirty="0">
              <a:effectLst/>
            </a:endParaRPr>
          </a:p>
          <a:p>
            <a:pPr marL="742950" marR="0" indent="-285750" algn="l" rtl="0">
              <a:buFont typeface="Arial" panose="020B0604020202020204" pitchFamily="34" charset="0"/>
              <a:buChar char="•"/>
            </a:pPr>
            <a:r>
              <a:rPr lang="en-US" sz="1400" b="0" i="0" dirty="0">
                <a:solidFill>
                  <a:srgbClr val="000000"/>
                </a:solidFill>
                <a:effectLst/>
                <a:latin typeface="Cambria" panose="02040503050406030204" pitchFamily="18" charset="0"/>
                <a:ea typeface="Arial" panose="020B0604020202020204" pitchFamily="34" charset="0"/>
                <a:cs typeface="Arial" panose="020B0604020202020204" pitchFamily="34" charset="0"/>
              </a:rPr>
              <a:t>Detect Android malware using a </a:t>
            </a:r>
            <a:r>
              <a:rPr lang="en-US" sz="1400" b="1" i="0" dirty="0">
                <a:solidFill>
                  <a:srgbClr val="000000"/>
                </a:solidFill>
                <a:effectLst/>
                <a:latin typeface="Cambria" panose="02040503050406030204" pitchFamily="18" charset="0"/>
                <a:ea typeface="Arial" panose="020B0604020202020204" pitchFamily="34" charset="0"/>
                <a:cs typeface="Arial" panose="020B0604020202020204" pitchFamily="34" charset="0"/>
              </a:rPr>
              <a:t>lightweight approach</a:t>
            </a:r>
            <a:r>
              <a:rPr lang="en-US" sz="1400" b="0" i="0" dirty="0">
                <a:solidFill>
                  <a:srgbClr val="000000"/>
                </a:solidFill>
                <a:effectLst/>
                <a:latin typeface="Cambria" panose="02040503050406030204" pitchFamily="18" charset="0"/>
                <a:ea typeface="Arial" panose="020B0604020202020204" pitchFamily="34" charset="0"/>
                <a:cs typeface="Arial" panose="020B0604020202020204" pitchFamily="34" charset="0"/>
              </a:rPr>
              <a:t>.</a:t>
            </a:r>
            <a:endParaRPr lang="en-IN" dirty="0">
              <a:effectLst/>
            </a:endParaRPr>
          </a:p>
          <a:p>
            <a:pPr marL="742950" marR="0" indent="-285750" algn="l" rtl="0">
              <a:buFont typeface="Arial" panose="020B0604020202020204" pitchFamily="34" charset="0"/>
              <a:buChar char="•"/>
            </a:pPr>
            <a:r>
              <a:rPr lang="en-US" sz="1400" b="0" i="0" dirty="0">
                <a:solidFill>
                  <a:srgbClr val="000000"/>
                </a:solidFill>
                <a:effectLst/>
                <a:latin typeface="Cambria" panose="02040503050406030204" pitchFamily="18" charset="0"/>
                <a:ea typeface="Arial" panose="020B0604020202020204" pitchFamily="34" charset="0"/>
                <a:cs typeface="Arial" panose="020B0604020202020204" pitchFamily="34" charset="0"/>
              </a:rPr>
              <a:t>Combine </a:t>
            </a:r>
            <a:r>
              <a:rPr lang="en-US" sz="1400" b="1" i="0" dirty="0">
                <a:solidFill>
                  <a:srgbClr val="000000"/>
                </a:solidFill>
                <a:effectLst/>
                <a:latin typeface="Cambria" panose="02040503050406030204" pitchFamily="18" charset="0"/>
                <a:ea typeface="Arial" panose="020B0604020202020204" pitchFamily="34" charset="0"/>
                <a:cs typeface="Arial" panose="020B0604020202020204" pitchFamily="34" charset="0"/>
              </a:rPr>
              <a:t>permissions requested by apps</a:t>
            </a:r>
            <a:r>
              <a:rPr lang="en-US" sz="1400" b="0" i="0" dirty="0">
                <a:solidFill>
                  <a:srgbClr val="000000"/>
                </a:solidFill>
                <a:effectLst/>
                <a:latin typeface="Cambria" panose="02040503050406030204" pitchFamily="18" charset="0"/>
                <a:ea typeface="Arial" panose="020B0604020202020204" pitchFamily="34" charset="0"/>
                <a:cs typeface="Arial" panose="020B0604020202020204" pitchFamily="34" charset="0"/>
              </a:rPr>
              <a:t> (static analysis) with </a:t>
            </a:r>
            <a:r>
              <a:rPr lang="en-US" sz="1400" b="1" i="0" dirty="0">
                <a:solidFill>
                  <a:srgbClr val="000000"/>
                </a:solidFill>
                <a:effectLst/>
                <a:latin typeface="Cambria" panose="02040503050406030204" pitchFamily="18" charset="0"/>
                <a:ea typeface="Arial" panose="020B0604020202020204" pitchFamily="34" charset="0"/>
                <a:cs typeface="Arial" panose="020B0604020202020204" pitchFamily="34" charset="0"/>
              </a:rPr>
              <a:t>network traffic features</a:t>
            </a:r>
            <a:r>
              <a:rPr lang="en-US" sz="1400" b="0" i="0" dirty="0">
                <a:solidFill>
                  <a:srgbClr val="000000"/>
                </a:solidFill>
                <a:effectLst/>
                <a:latin typeface="Cambria" panose="02040503050406030204" pitchFamily="18" charset="0"/>
                <a:ea typeface="Arial" panose="020B0604020202020204" pitchFamily="34" charset="0"/>
                <a:cs typeface="Arial" panose="020B0604020202020204" pitchFamily="34" charset="0"/>
              </a:rPr>
              <a:t> (dynamic analysis).</a:t>
            </a:r>
            <a:endParaRPr lang="en-IN" dirty="0">
              <a:effectLst/>
            </a:endParaRPr>
          </a:p>
          <a:p>
            <a:pPr marL="742950" marR="0" indent="-285750" algn="l" rtl="0">
              <a:buFont typeface="Arial" panose="020B0604020202020204" pitchFamily="34" charset="0"/>
              <a:buChar char="•"/>
            </a:pPr>
            <a:r>
              <a:rPr lang="en-US" sz="1400" b="0" i="0" dirty="0">
                <a:solidFill>
                  <a:srgbClr val="000000"/>
                </a:solidFill>
                <a:effectLst/>
                <a:latin typeface="Cambria" panose="02040503050406030204" pitchFamily="18" charset="0"/>
                <a:ea typeface="Arial" panose="020B0604020202020204" pitchFamily="34" charset="0"/>
                <a:cs typeface="Arial" panose="020B0604020202020204" pitchFamily="34" charset="0"/>
              </a:rPr>
              <a:t>Use </a:t>
            </a:r>
            <a:r>
              <a:rPr lang="en-US" sz="1400" b="1" i="0" dirty="0">
                <a:solidFill>
                  <a:srgbClr val="000000"/>
                </a:solidFill>
                <a:effectLst/>
                <a:latin typeface="Cambria" panose="02040503050406030204" pitchFamily="18" charset="0"/>
                <a:ea typeface="Arial" panose="020B0604020202020204" pitchFamily="34" charset="0"/>
                <a:cs typeface="Arial" panose="020B0604020202020204" pitchFamily="34" charset="0"/>
              </a:rPr>
              <a:t>machine learning models</a:t>
            </a:r>
            <a:r>
              <a:rPr lang="en-US" sz="1400" b="0" i="0" dirty="0">
                <a:solidFill>
                  <a:srgbClr val="000000"/>
                </a:solidFill>
                <a:effectLst/>
                <a:latin typeface="Cambria" panose="02040503050406030204" pitchFamily="18" charset="0"/>
                <a:ea typeface="Arial" panose="020B0604020202020204" pitchFamily="34" charset="0"/>
                <a:cs typeface="Arial" panose="020B0604020202020204" pitchFamily="34" charset="0"/>
              </a:rPr>
              <a:t> (SVM, Decision Tree) for classification.</a:t>
            </a:r>
          </a:p>
          <a:p>
            <a:pPr marL="457200" marR="0" algn="l" rtl="0"/>
            <a:endParaRPr lang="en-IN" dirty="0">
              <a:effectLst/>
            </a:endParaRPr>
          </a:p>
          <a:p>
            <a:pPr marR="0" algn="l" rtl="0">
              <a:buNone/>
            </a:pPr>
            <a:r>
              <a:rPr lang="en-US" sz="1400" b="1" i="0" dirty="0">
                <a:solidFill>
                  <a:srgbClr val="000000"/>
                </a:solidFill>
                <a:effectLst/>
                <a:latin typeface="Cambria" panose="02040503050406030204" pitchFamily="18" charset="0"/>
                <a:ea typeface="Arial" panose="020B0604020202020204" pitchFamily="34" charset="0"/>
                <a:cs typeface="Arial" panose="020B0604020202020204" pitchFamily="34" charset="0"/>
              </a:rPr>
              <a:t>Methodology:</a:t>
            </a:r>
            <a:endParaRPr lang="en-IN" dirty="0">
              <a:effectLst/>
            </a:endParaRPr>
          </a:p>
          <a:p>
            <a:pPr marL="742950" marR="0" indent="-285750" algn="l" rtl="0">
              <a:buFont typeface="Arial" panose="020B0604020202020204" pitchFamily="34" charset="0"/>
              <a:buChar char="•"/>
            </a:pPr>
            <a:r>
              <a:rPr lang="en-US" sz="1400" b="0" i="0" dirty="0">
                <a:solidFill>
                  <a:srgbClr val="000000"/>
                </a:solidFill>
                <a:effectLst/>
                <a:latin typeface="Cambria" panose="02040503050406030204" pitchFamily="18" charset="0"/>
                <a:ea typeface="Arial" panose="020B0604020202020204" pitchFamily="34" charset="0"/>
                <a:cs typeface="Arial" panose="020B0604020202020204" pitchFamily="34" charset="0"/>
              </a:rPr>
              <a:t>Collected Android apps (both malware and benign).</a:t>
            </a:r>
            <a:endParaRPr lang="en-IN" dirty="0">
              <a:effectLst/>
            </a:endParaRPr>
          </a:p>
          <a:p>
            <a:pPr marL="742950" marR="0" indent="-285750" algn="l" rtl="0">
              <a:buFont typeface="Arial" panose="020B0604020202020204" pitchFamily="34" charset="0"/>
              <a:buChar char="•"/>
            </a:pPr>
            <a:r>
              <a:rPr lang="en-US" sz="1400" b="0" i="0" dirty="0">
                <a:solidFill>
                  <a:srgbClr val="000000"/>
                </a:solidFill>
                <a:effectLst/>
                <a:latin typeface="Cambria" panose="02040503050406030204" pitchFamily="18" charset="0"/>
                <a:ea typeface="Arial" panose="020B0604020202020204" pitchFamily="34" charset="0"/>
                <a:cs typeface="Arial" panose="020B0604020202020204" pitchFamily="34" charset="0"/>
              </a:rPr>
              <a:t>Extracted permissions from the app manifest → converted to binary vectors (1/0).</a:t>
            </a:r>
            <a:endParaRPr lang="en-IN" dirty="0">
              <a:effectLst/>
            </a:endParaRPr>
          </a:p>
          <a:p>
            <a:pPr marL="742950" marR="0" indent="-285750" algn="l" rtl="0">
              <a:buFont typeface="Arial" panose="020B0604020202020204" pitchFamily="34" charset="0"/>
              <a:buChar char="•"/>
            </a:pPr>
            <a:r>
              <a:rPr lang="en-US" sz="1400" b="0" i="0" dirty="0">
                <a:solidFill>
                  <a:srgbClr val="000000"/>
                </a:solidFill>
                <a:effectLst/>
                <a:latin typeface="Cambria" panose="02040503050406030204" pitchFamily="18" charset="0"/>
                <a:ea typeface="Arial" panose="020B0604020202020204" pitchFamily="34" charset="0"/>
                <a:cs typeface="Arial" panose="020B0604020202020204" pitchFamily="34" charset="0"/>
              </a:rPr>
              <a:t>Monitored basic network activity (packet counts, flow stats).</a:t>
            </a:r>
            <a:endParaRPr lang="en-IN" dirty="0">
              <a:effectLst/>
            </a:endParaRPr>
          </a:p>
          <a:p>
            <a:pPr marL="742950" marR="0" indent="-285750" algn="l" rtl="0">
              <a:buFont typeface="Arial" panose="020B0604020202020204" pitchFamily="34" charset="0"/>
              <a:buChar char="•"/>
            </a:pPr>
            <a:r>
              <a:rPr lang="en-US" sz="1400" b="0" i="0" dirty="0">
                <a:solidFill>
                  <a:srgbClr val="000000"/>
                </a:solidFill>
                <a:effectLst/>
                <a:latin typeface="Cambria" panose="02040503050406030204" pitchFamily="18" charset="0"/>
                <a:ea typeface="Arial" panose="020B0604020202020204" pitchFamily="34" charset="0"/>
                <a:cs typeface="Arial" panose="020B0604020202020204" pitchFamily="34" charset="0"/>
              </a:rPr>
              <a:t>Combined static and network features.</a:t>
            </a:r>
            <a:endParaRPr lang="en-IN" dirty="0">
              <a:effectLst/>
            </a:endParaRPr>
          </a:p>
          <a:p>
            <a:pPr marL="742950" marR="0" indent="-285750" algn="l" rtl="0">
              <a:buFont typeface="Arial" panose="020B0604020202020204" pitchFamily="34" charset="0"/>
              <a:buChar char="•"/>
            </a:pPr>
            <a:r>
              <a:rPr lang="en-US" sz="1400" b="0" i="0" dirty="0">
                <a:solidFill>
                  <a:srgbClr val="000000"/>
                </a:solidFill>
                <a:effectLst/>
                <a:latin typeface="Cambria" panose="02040503050406030204" pitchFamily="18" charset="0"/>
                <a:ea typeface="Arial" panose="020B0604020202020204" pitchFamily="34" charset="0"/>
                <a:cs typeface="Arial" panose="020B0604020202020204" pitchFamily="34" charset="0"/>
              </a:rPr>
              <a:t>Trained ML classifiers to predict if an app is malicious or safe.</a:t>
            </a:r>
            <a:endParaRPr lang="en-IN" dirty="0">
              <a:effectLst/>
            </a:endParaRPr>
          </a:p>
        </p:txBody>
      </p:sp>
      <p:sp>
        <p:nvSpPr>
          <p:cNvPr id="11" name="TextBox 10">
            <a:extLst>
              <a:ext uri="{FF2B5EF4-FFF2-40B4-BE49-F238E27FC236}">
                <a16:creationId xmlns:a16="http://schemas.microsoft.com/office/drawing/2014/main" id="{E2DD8F88-413F-7F93-F742-0BE798DC2E5D}"/>
              </a:ext>
            </a:extLst>
          </p:cNvPr>
          <p:cNvSpPr txBox="1"/>
          <p:nvPr/>
        </p:nvSpPr>
        <p:spPr>
          <a:xfrm>
            <a:off x="6184900" y="1339058"/>
            <a:ext cx="5194300" cy="2462213"/>
          </a:xfrm>
          <a:prstGeom prst="rect">
            <a:avLst/>
          </a:prstGeom>
          <a:noFill/>
        </p:spPr>
        <p:txBody>
          <a:bodyPr wrap="square">
            <a:spAutoFit/>
          </a:bodyPr>
          <a:lstStyle/>
          <a:p>
            <a:pPr>
              <a:buNone/>
            </a:pPr>
            <a:r>
              <a:rPr lang="en-US" sz="1400" b="1" dirty="0">
                <a:latin typeface="+mj-lt"/>
              </a:rPr>
              <a:t>Drawbacks:</a:t>
            </a:r>
          </a:p>
          <a:p>
            <a:pPr marL="285750" indent="-285750">
              <a:buFont typeface="Arial" panose="020B0604020202020204" pitchFamily="34" charset="0"/>
              <a:buChar char="•"/>
            </a:pPr>
            <a:r>
              <a:rPr lang="en-US" sz="1400" dirty="0">
                <a:latin typeface="+mj-lt"/>
              </a:rPr>
              <a:t>Relies too much on permissions → not reliable (benign apps may also request sensitive permissions).</a:t>
            </a:r>
          </a:p>
          <a:p>
            <a:pPr marL="285750" indent="-285750">
              <a:buFont typeface="Arial" panose="020B0604020202020204" pitchFamily="34" charset="0"/>
              <a:buChar char="•"/>
            </a:pPr>
            <a:r>
              <a:rPr lang="en-US" sz="1400" dirty="0">
                <a:latin typeface="+mj-lt"/>
              </a:rPr>
              <a:t>Network analysis was </a:t>
            </a:r>
            <a:r>
              <a:rPr lang="en-US" sz="1400" b="1" dirty="0">
                <a:latin typeface="+mj-lt"/>
              </a:rPr>
              <a:t>very shallow</a:t>
            </a:r>
            <a:r>
              <a:rPr lang="en-US" sz="1400" dirty="0">
                <a:latin typeface="+mj-lt"/>
              </a:rPr>
              <a:t>, only basic stats (no malicious domain or flow inspection).</a:t>
            </a:r>
          </a:p>
          <a:p>
            <a:pPr marL="285750" indent="-285750">
              <a:buFont typeface="Arial" panose="020B0604020202020204" pitchFamily="34" charset="0"/>
              <a:buChar char="•"/>
            </a:pPr>
            <a:r>
              <a:rPr lang="en-US" sz="1400" dirty="0">
                <a:latin typeface="+mj-lt"/>
              </a:rPr>
              <a:t>Small, outdated dataset → lacks robustness against modern malware.</a:t>
            </a:r>
          </a:p>
          <a:p>
            <a:pPr marL="285750" indent="-285750">
              <a:buFont typeface="Arial" panose="020B0604020202020204" pitchFamily="34" charset="0"/>
              <a:buChar char="•"/>
            </a:pPr>
            <a:r>
              <a:rPr lang="en-US" sz="1400" dirty="0">
                <a:latin typeface="+mj-lt"/>
              </a:rPr>
              <a:t>No dynamic/runtime analysis → misses behavior triggered during execution.</a:t>
            </a:r>
          </a:p>
          <a:p>
            <a:pPr marL="285750" indent="-285750">
              <a:buFont typeface="Arial" panose="020B0604020202020204" pitchFamily="34" charset="0"/>
              <a:buChar char="•"/>
            </a:pPr>
            <a:r>
              <a:rPr lang="en-US" sz="1400" dirty="0">
                <a:latin typeface="+mj-lt"/>
              </a:rPr>
              <a:t>No real-world deployment → purely academic, lab-level experiment.</a:t>
            </a:r>
          </a:p>
        </p:txBody>
      </p:sp>
    </p:spTree>
    <p:extLst>
      <p:ext uri="{BB962C8B-B14F-4D97-AF65-F5344CB8AC3E}">
        <p14:creationId xmlns:p14="http://schemas.microsoft.com/office/powerpoint/2010/main" val="3019532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55730060-E8BF-4CE1-DCE1-E021206DBF71}"/>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984E3D31-7F8D-DA67-081D-BCA18521AC3D}"/>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mj-lt"/>
                <a:ea typeface="Cambria" panose="02040503050406030204" pitchFamily="18" charset="0"/>
              </a:rPr>
              <a:t>Proposed Method &amp; Feasibility Study</a:t>
            </a:r>
            <a:endParaRPr dirty="0">
              <a:latin typeface="+mj-lt"/>
              <a:ea typeface="Cambria" panose="02040503050406030204" pitchFamily="18" charset="0"/>
            </a:endParaRPr>
          </a:p>
        </p:txBody>
      </p:sp>
      <p:sp>
        <p:nvSpPr>
          <p:cNvPr id="97" name="Google Shape;97;p14">
            <a:extLst>
              <a:ext uri="{FF2B5EF4-FFF2-40B4-BE49-F238E27FC236}">
                <a16:creationId xmlns:a16="http://schemas.microsoft.com/office/drawing/2014/main" id="{58E29411-61F8-26B9-A282-324046803A87}"/>
              </a:ext>
            </a:extLst>
          </p:cNvPr>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85000" lnSpcReduction="20000"/>
          </a:bodyPr>
          <a:lstStyle/>
          <a:p>
            <a:pPr marL="76200" indent="0">
              <a:buNone/>
            </a:pPr>
            <a:r>
              <a:rPr lang="en-IN" sz="1800" b="1" dirty="0">
                <a:latin typeface="+mj-lt"/>
              </a:rPr>
              <a:t>How Our Project Improves:</a:t>
            </a:r>
          </a:p>
          <a:p>
            <a:pPr>
              <a:buFont typeface="Arial" panose="020B0604020202020204" pitchFamily="34" charset="0"/>
              <a:buChar char="•"/>
            </a:pPr>
            <a:endParaRPr lang="en-IN" sz="1800" dirty="0">
              <a:latin typeface="+mj-lt"/>
            </a:endParaRPr>
          </a:p>
          <a:p>
            <a:pPr marL="742950" lvl="1" indent="-285750">
              <a:buFont typeface="Arial" panose="020B0604020202020204" pitchFamily="34" charset="0"/>
              <a:buChar char="•"/>
            </a:pPr>
            <a:r>
              <a:rPr lang="en-IN" sz="1800" b="1" dirty="0">
                <a:latin typeface="+mj-lt"/>
              </a:rPr>
              <a:t>Hybrid approach</a:t>
            </a:r>
            <a:r>
              <a:rPr lang="en-IN" sz="1800" dirty="0">
                <a:latin typeface="+mj-lt"/>
              </a:rPr>
              <a:t>: Static (</a:t>
            </a:r>
            <a:r>
              <a:rPr lang="en-IN" sz="1800" dirty="0" err="1">
                <a:latin typeface="+mj-lt"/>
              </a:rPr>
              <a:t>MobSF</a:t>
            </a:r>
            <a:r>
              <a:rPr lang="en-IN" sz="1800" dirty="0">
                <a:latin typeface="+mj-lt"/>
              </a:rPr>
              <a:t>) + Dynamic (runtime monitoring) + Network (</a:t>
            </a:r>
            <a:r>
              <a:rPr lang="en-IN" sz="1800" dirty="0" err="1">
                <a:latin typeface="+mj-lt"/>
              </a:rPr>
              <a:t>Scapy</a:t>
            </a:r>
            <a:r>
              <a:rPr lang="en-IN" sz="1800" dirty="0">
                <a:latin typeface="+mj-lt"/>
              </a:rPr>
              <a:t>).</a:t>
            </a:r>
          </a:p>
          <a:p>
            <a:pPr marL="742950" lvl="1" indent="-285750">
              <a:buFont typeface="Arial" panose="020B0604020202020204" pitchFamily="34" charset="0"/>
              <a:buChar char="•"/>
            </a:pPr>
            <a:r>
              <a:rPr lang="en-IN" sz="1800" dirty="0">
                <a:latin typeface="+mj-lt"/>
              </a:rPr>
              <a:t>Uses </a:t>
            </a:r>
            <a:r>
              <a:rPr lang="en-IN" sz="1800" b="1" dirty="0">
                <a:latin typeface="+mj-lt"/>
              </a:rPr>
              <a:t>threat intelligence feeds (MISP)</a:t>
            </a:r>
            <a:r>
              <a:rPr lang="en-IN" sz="1800" dirty="0">
                <a:latin typeface="+mj-lt"/>
              </a:rPr>
              <a:t> to detect new malware variants.</a:t>
            </a:r>
          </a:p>
          <a:p>
            <a:pPr marL="742950" lvl="1" indent="-285750">
              <a:buFont typeface="Arial" panose="020B0604020202020204" pitchFamily="34" charset="0"/>
              <a:buChar char="•"/>
            </a:pPr>
            <a:r>
              <a:rPr lang="en-IN" sz="1800" b="1" dirty="0">
                <a:latin typeface="+mj-lt"/>
              </a:rPr>
              <a:t>Single-family focus</a:t>
            </a:r>
            <a:r>
              <a:rPr lang="en-IN" sz="1800" dirty="0">
                <a:latin typeface="+mj-lt"/>
              </a:rPr>
              <a:t> </a:t>
            </a:r>
          </a:p>
          <a:p>
            <a:pPr marL="742950" lvl="1" indent="-285750">
              <a:buFont typeface="Arial" panose="020B0604020202020204" pitchFamily="34" charset="0"/>
              <a:buChar char="•"/>
            </a:pPr>
            <a:r>
              <a:rPr lang="en-IN" sz="1800" dirty="0">
                <a:latin typeface="+mj-lt"/>
              </a:rPr>
              <a:t>(e.g., </a:t>
            </a:r>
            <a:r>
              <a:rPr lang="en-IN" sz="1800" dirty="0" err="1">
                <a:latin typeface="+mj-lt"/>
              </a:rPr>
              <a:t>BankBot</a:t>
            </a:r>
            <a:r>
              <a:rPr lang="en-IN" sz="1800" dirty="0">
                <a:latin typeface="+mj-lt"/>
              </a:rPr>
              <a:t> trojan) → more precise and explainable detection.</a:t>
            </a:r>
          </a:p>
          <a:p>
            <a:pPr marL="742950" lvl="1" indent="-285750">
              <a:buFont typeface="Arial" panose="020B0604020202020204" pitchFamily="34" charset="0"/>
              <a:buChar char="•"/>
            </a:pPr>
            <a:r>
              <a:rPr lang="en-IN" sz="1800" b="1" dirty="0">
                <a:latin typeface="+mj-lt"/>
              </a:rPr>
              <a:t>Deployment-ready system</a:t>
            </a:r>
            <a:r>
              <a:rPr lang="en-IN" sz="1800" dirty="0">
                <a:latin typeface="+mj-lt"/>
              </a:rPr>
              <a:t>: React Native (frontend) + </a:t>
            </a:r>
            <a:r>
              <a:rPr lang="en-IN" sz="1800" dirty="0" err="1">
                <a:latin typeface="+mj-lt"/>
              </a:rPr>
              <a:t>FastAPI</a:t>
            </a:r>
            <a:r>
              <a:rPr lang="en-IN" sz="1800" dirty="0">
                <a:latin typeface="+mj-lt"/>
              </a:rPr>
              <a:t> (backend) + </a:t>
            </a:r>
            <a:r>
              <a:rPr lang="en-IN" sz="1800" dirty="0" err="1">
                <a:latin typeface="+mj-lt"/>
              </a:rPr>
              <a:t>Supabase</a:t>
            </a:r>
            <a:r>
              <a:rPr lang="en-IN" sz="1800" dirty="0">
                <a:latin typeface="+mj-lt"/>
              </a:rPr>
              <a:t>.</a:t>
            </a:r>
          </a:p>
          <a:p>
            <a:pPr marL="742950" lvl="1" indent="-285750">
              <a:buFont typeface="Arial" panose="020B0604020202020204" pitchFamily="34" charset="0"/>
              <a:buChar char="•"/>
            </a:pPr>
            <a:r>
              <a:rPr lang="en-IN" sz="1800" dirty="0">
                <a:latin typeface="+mj-lt"/>
              </a:rPr>
              <a:t>Provides </a:t>
            </a:r>
            <a:r>
              <a:rPr lang="en-IN" sz="1800" b="1" dirty="0">
                <a:latin typeface="+mj-lt"/>
              </a:rPr>
              <a:t>user alerts and transparency</a:t>
            </a:r>
            <a:r>
              <a:rPr lang="en-IN" sz="1800" dirty="0">
                <a:latin typeface="+mj-lt"/>
              </a:rPr>
              <a:t>, showing why an app is flagged.</a:t>
            </a:r>
          </a:p>
          <a:p>
            <a:pPr marL="457200" lvl="1" indent="0">
              <a:buNone/>
            </a:pPr>
            <a:endParaRPr lang="en-IN" sz="1800" dirty="0">
              <a:latin typeface="+mj-lt"/>
            </a:endParaRPr>
          </a:p>
          <a:p>
            <a:pPr marL="0" lvl="0" indent="0" algn="just" eaLnBrk="0" fontAlgn="base" hangingPunct="0">
              <a:spcBef>
                <a:spcPct val="0"/>
              </a:spcBef>
              <a:spcAft>
                <a:spcPct val="0"/>
              </a:spcAft>
              <a:buClrTx/>
              <a:buSzTx/>
              <a:buNone/>
            </a:pPr>
            <a:r>
              <a:rPr lang="en-US" altLang="en-US" sz="2000" b="1" dirty="0">
                <a:solidFill>
                  <a:schemeClr val="tx1"/>
                </a:solidFill>
                <a:latin typeface="+mj-lt"/>
              </a:rPr>
              <a:t>Proposed Solution:</a:t>
            </a:r>
            <a:r>
              <a:rPr lang="en-US" altLang="en-US" sz="2000" dirty="0">
                <a:solidFill>
                  <a:schemeClr val="tx1"/>
                </a:solidFill>
                <a:latin typeface="+mj-lt"/>
              </a:rPr>
              <a:t> </a:t>
            </a:r>
          </a:p>
          <a:p>
            <a:pPr marL="0" lvl="0" indent="0" algn="just" eaLnBrk="0" fontAlgn="base" hangingPunct="0">
              <a:spcBef>
                <a:spcPct val="0"/>
              </a:spcBef>
              <a:spcAft>
                <a:spcPct val="0"/>
              </a:spcAft>
              <a:buClrTx/>
              <a:buSzTx/>
              <a:buNone/>
            </a:pPr>
            <a:endParaRPr lang="en-US" altLang="en-US" sz="2000" dirty="0">
              <a:solidFill>
                <a:schemeClr val="tx1"/>
              </a:solidFill>
              <a:latin typeface="+mj-lt"/>
            </a:endParaRPr>
          </a:p>
          <a:p>
            <a:pPr marL="285750" indent="-285750" algn="just" eaLnBrk="0" fontAlgn="base" hangingPunct="0">
              <a:spcBef>
                <a:spcPct val="0"/>
              </a:spcBef>
              <a:spcAft>
                <a:spcPct val="0"/>
              </a:spcAft>
              <a:buClrTx/>
              <a:buSzTx/>
            </a:pPr>
            <a:r>
              <a:rPr lang="en-US" sz="1800" dirty="0">
                <a:latin typeface="+mj-lt"/>
              </a:rPr>
              <a:t>Our mobile app analyzes app behavior and monitors network traffic while referencing threat intelligence feeds to identify potentially malicious applications. </a:t>
            </a:r>
          </a:p>
          <a:p>
            <a:pPr marL="285750" indent="-285750" algn="just" eaLnBrk="0" fontAlgn="base" hangingPunct="0">
              <a:spcBef>
                <a:spcPct val="0"/>
              </a:spcBef>
              <a:spcAft>
                <a:spcPct val="0"/>
              </a:spcAft>
              <a:buClrTx/>
              <a:buSzTx/>
            </a:pPr>
            <a:endParaRPr lang="en-US" sz="1800" dirty="0">
              <a:latin typeface="+mj-lt"/>
            </a:endParaRPr>
          </a:p>
          <a:p>
            <a:pPr marL="285750" indent="-285750" algn="just" eaLnBrk="0" fontAlgn="base" hangingPunct="0">
              <a:spcBef>
                <a:spcPct val="0"/>
              </a:spcBef>
              <a:spcAft>
                <a:spcPct val="0"/>
              </a:spcAft>
              <a:buClrTx/>
              <a:buSzTx/>
            </a:pPr>
            <a:r>
              <a:rPr lang="en-US" sz="1800" dirty="0">
                <a:latin typeface="+mj-lt"/>
              </a:rPr>
              <a:t>It aims to detect suspicious activities like unauthorized data transfers and unusual background processes.</a:t>
            </a:r>
          </a:p>
          <a:p>
            <a:pPr marL="285750" indent="-285750" algn="just" eaLnBrk="0" fontAlgn="base" hangingPunct="0">
              <a:spcBef>
                <a:spcPct val="0"/>
              </a:spcBef>
              <a:spcAft>
                <a:spcPct val="0"/>
              </a:spcAft>
              <a:buClrTx/>
              <a:buSzTx/>
            </a:pPr>
            <a:endParaRPr lang="en-US" sz="1800" dirty="0">
              <a:latin typeface="+mj-lt"/>
            </a:endParaRPr>
          </a:p>
          <a:p>
            <a:pPr marL="285750" indent="-285750" algn="just" eaLnBrk="0" fontAlgn="base" hangingPunct="0">
              <a:spcBef>
                <a:spcPct val="0"/>
              </a:spcBef>
              <a:spcAft>
                <a:spcPct val="0"/>
              </a:spcAft>
              <a:buClrTx/>
              <a:buSzTx/>
            </a:pPr>
            <a:r>
              <a:rPr lang="en-US" sz="1800" dirty="0">
                <a:latin typeface="+mj-lt"/>
              </a:rPr>
              <a:t>By providing insights and alerts, the app helps users stay informed about the security status of their device</a:t>
            </a:r>
            <a:r>
              <a:rPr lang="en-US" sz="2000" dirty="0">
                <a:latin typeface="+mj-lt"/>
              </a:rPr>
              <a:t>.</a:t>
            </a:r>
            <a:endParaRPr lang="en-US" altLang="en-US" sz="1800" dirty="0">
              <a:solidFill>
                <a:schemeClr val="tx1"/>
              </a:solidFill>
              <a:latin typeface="+mj-lt"/>
            </a:endParaRPr>
          </a:p>
          <a:p>
            <a:pPr marL="457200" lvl="1" indent="0">
              <a:buNone/>
            </a:pPr>
            <a:endParaRPr lang="en-IN" sz="1800" dirty="0">
              <a:latin typeface="+mj-lt"/>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mj-lt"/>
              <a:ea typeface="Cambria" panose="02040503050406030204" pitchFamily="18" charset="0"/>
            </a:endParaRPr>
          </a:p>
        </p:txBody>
      </p:sp>
    </p:spTree>
    <p:extLst>
      <p:ext uri="{BB962C8B-B14F-4D97-AF65-F5344CB8AC3E}">
        <p14:creationId xmlns:p14="http://schemas.microsoft.com/office/powerpoint/2010/main" val="39881040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764DE96C-0B44-0E23-D314-933C6D6CE985}"/>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3B49C3A2-39C7-5589-4380-5AE9EBFBDADD}"/>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mj-lt"/>
                <a:ea typeface="Cambria" panose="02040503050406030204" pitchFamily="18" charset="0"/>
              </a:rPr>
              <a:t>System Architecture Diagram</a:t>
            </a:r>
            <a:endParaRPr dirty="0">
              <a:latin typeface="+mj-lt"/>
              <a:ea typeface="Cambria" panose="02040503050406030204" pitchFamily="18" charset="0"/>
            </a:endParaRPr>
          </a:p>
        </p:txBody>
      </p:sp>
      <p:pic>
        <p:nvPicPr>
          <p:cNvPr id="3" name="Picture 2">
            <a:extLst>
              <a:ext uri="{FF2B5EF4-FFF2-40B4-BE49-F238E27FC236}">
                <a16:creationId xmlns:a16="http://schemas.microsoft.com/office/drawing/2014/main" id="{1A6FCFC3-58D4-1FAE-C7BF-2C17B8CA45CE}"/>
              </a:ext>
            </a:extLst>
          </p:cNvPr>
          <p:cNvPicPr>
            <a:picLocks noChangeAspect="1"/>
          </p:cNvPicPr>
          <p:nvPr/>
        </p:nvPicPr>
        <p:blipFill>
          <a:blip r:embed="rId3"/>
          <a:stretch>
            <a:fillRect/>
          </a:stretch>
        </p:blipFill>
        <p:spPr>
          <a:xfrm>
            <a:off x="3591496" y="973134"/>
            <a:ext cx="4750244" cy="5131187"/>
          </a:xfrm>
          <a:prstGeom prst="rect">
            <a:avLst/>
          </a:prstGeom>
        </p:spPr>
      </p:pic>
    </p:spTree>
    <p:extLst>
      <p:ext uri="{BB962C8B-B14F-4D97-AF65-F5344CB8AC3E}">
        <p14:creationId xmlns:p14="http://schemas.microsoft.com/office/powerpoint/2010/main" val="4270758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A274C7EB-584C-4F7C-3E85-EEABC340A180}"/>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3450FF78-DC92-77E1-D237-9D155FD456EA}"/>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mj-lt"/>
                <a:ea typeface="Cambria" panose="02040503050406030204" pitchFamily="18" charset="0"/>
              </a:rPr>
              <a:t>Modules</a:t>
            </a:r>
            <a:endParaRPr dirty="0">
              <a:latin typeface="+mj-lt"/>
              <a:ea typeface="Cambria" panose="02040503050406030204" pitchFamily="18" charset="0"/>
            </a:endParaRPr>
          </a:p>
        </p:txBody>
      </p:sp>
      <p:graphicFrame>
        <p:nvGraphicFramePr>
          <p:cNvPr id="5" name="Table 4">
            <a:extLst>
              <a:ext uri="{FF2B5EF4-FFF2-40B4-BE49-F238E27FC236}">
                <a16:creationId xmlns:a16="http://schemas.microsoft.com/office/drawing/2014/main" id="{F609B93A-A2FC-B26A-F6B6-4081508EBEC8}"/>
              </a:ext>
            </a:extLst>
          </p:cNvPr>
          <p:cNvGraphicFramePr>
            <a:graphicFrameLocks noGrp="1"/>
          </p:cNvGraphicFramePr>
          <p:nvPr>
            <p:extLst>
              <p:ext uri="{D42A27DB-BD31-4B8C-83A1-F6EECF244321}">
                <p14:modId xmlns:p14="http://schemas.microsoft.com/office/powerpoint/2010/main" val="2800384605"/>
              </p:ext>
            </p:extLst>
          </p:nvPr>
        </p:nvGraphicFramePr>
        <p:xfrm>
          <a:off x="1252728" y="1460330"/>
          <a:ext cx="8340344" cy="2553886"/>
        </p:xfrm>
        <a:graphic>
          <a:graphicData uri="http://schemas.openxmlformats.org/drawingml/2006/table">
            <a:tbl>
              <a:tblPr firstRow="1" bandRow="1"/>
              <a:tblGrid>
                <a:gridCol w="3099816">
                  <a:extLst>
                    <a:ext uri="{9D8B030D-6E8A-4147-A177-3AD203B41FA5}">
                      <a16:colId xmlns:a16="http://schemas.microsoft.com/office/drawing/2014/main" val="357967653"/>
                    </a:ext>
                  </a:extLst>
                </a:gridCol>
                <a:gridCol w="5240528">
                  <a:extLst>
                    <a:ext uri="{9D8B030D-6E8A-4147-A177-3AD203B41FA5}">
                      <a16:colId xmlns:a16="http://schemas.microsoft.com/office/drawing/2014/main" val="870631496"/>
                    </a:ext>
                  </a:extLst>
                </a:gridCol>
              </a:tblGrid>
              <a:tr h="289068">
                <a:tc>
                  <a:txBody>
                    <a:bodyPr/>
                    <a:lstStyle/>
                    <a:p>
                      <a:pPr>
                        <a:buNone/>
                      </a:pPr>
                      <a:r>
                        <a:rPr lang="en-IN" b="1" dirty="0"/>
                        <a:t>Module</a:t>
                      </a:r>
                      <a:endParaRPr lang="en-IN" dirty="0"/>
                    </a:p>
                  </a:txBody>
                  <a:tcPr anchor="ctr"/>
                </a:tc>
                <a:tc>
                  <a:txBody>
                    <a:bodyPr/>
                    <a:lstStyle/>
                    <a:p>
                      <a:pPr>
                        <a:buNone/>
                      </a:pPr>
                      <a:r>
                        <a:rPr lang="en-IN" b="1" dirty="0"/>
                        <a:t>What it Does</a:t>
                      </a:r>
                      <a:endParaRPr lang="en-IN" dirty="0"/>
                    </a:p>
                  </a:txBody>
                  <a:tcPr anchor="ctr"/>
                </a:tc>
                <a:extLst>
                  <a:ext uri="{0D108BD9-81ED-4DB2-BD59-A6C34878D82A}">
                    <a16:rowId xmlns:a16="http://schemas.microsoft.com/office/drawing/2014/main" val="1004398439"/>
                  </a:ext>
                </a:extLst>
              </a:tr>
              <a:tr h="289068">
                <a:tc>
                  <a:txBody>
                    <a:bodyPr/>
                    <a:lstStyle/>
                    <a:p>
                      <a:pPr>
                        <a:buNone/>
                      </a:pPr>
                      <a:r>
                        <a:rPr lang="en-IN"/>
                        <a:t>Static Analysis</a:t>
                      </a:r>
                    </a:p>
                  </a:txBody>
                  <a:tcPr anchor="ctr"/>
                </a:tc>
                <a:tc>
                  <a:txBody>
                    <a:bodyPr/>
                    <a:lstStyle/>
                    <a:p>
                      <a:pPr>
                        <a:buNone/>
                      </a:pPr>
                      <a:r>
                        <a:rPr lang="en-IN"/>
                        <a:t>Checks app code &amp; permissions</a:t>
                      </a:r>
                    </a:p>
                  </a:txBody>
                  <a:tcPr anchor="ctr"/>
                </a:tc>
                <a:extLst>
                  <a:ext uri="{0D108BD9-81ED-4DB2-BD59-A6C34878D82A}">
                    <a16:rowId xmlns:a16="http://schemas.microsoft.com/office/drawing/2014/main" val="151842727"/>
                  </a:ext>
                </a:extLst>
              </a:tr>
              <a:tr h="289068">
                <a:tc>
                  <a:txBody>
                    <a:bodyPr/>
                    <a:lstStyle/>
                    <a:p>
                      <a:pPr>
                        <a:buNone/>
                      </a:pPr>
                      <a:r>
                        <a:rPr lang="en-IN" dirty="0"/>
                        <a:t>Dynamic Analysis</a:t>
                      </a:r>
                    </a:p>
                  </a:txBody>
                  <a:tcPr anchor="ctr"/>
                </a:tc>
                <a:tc>
                  <a:txBody>
                    <a:bodyPr/>
                    <a:lstStyle/>
                    <a:p>
                      <a:pPr>
                        <a:buNone/>
                      </a:pPr>
                      <a:r>
                        <a:rPr lang="en-IN" dirty="0"/>
                        <a:t>Monitors app </a:t>
                      </a:r>
                      <a:r>
                        <a:rPr lang="en-IN" dirty="0" err="1"/>
                        <a:t>behavior</a:t>
                      </a:r>
                      <a:endParaRPr lang="en-IN" dirty="0"/>
                    </a:p>
                  </a:txBody>
                  <a:tcPr anchor="ctr"/>
                </a:tc>
                <a:extLst>
                  <a:ext uri="{0D108BD9-81ED-4DB2-BD59-A6C34878D82A}">
                    <a16:rowId xmlns:a16="http://schemas.microsoft.com/office/drawing/2014/main" val="3445616897"/>
                  </a:ext>
                </a:extLst>
              </a:tr>
              <a:tr h="289068">
                <a:tc>
                  <a:txBody>
                    <a:bodyPr/>
                    <a:lstStyle/>
                    <a:p>
                      <a:pPr>
                        <a:buNone/>
                      </a:pPr>
                      <a:r>
                        <a:rPr lang="en-IN" dirty="0"/>
                        <a:t>Network Monitoring</a:t>
                      </a:r>
                    </a:p>
                  </a:txBody>
                  <a:tcPr anchor="ctr"/>
                </a:tc>
                <a:tc>
                  <a:txBody>
                    <a:bodyPr/>
                    <a:lstStyle/>
                    <a:p>
                      <a:pPr>
                        <a:buNone/>
                      </a:pPr>
                      <a:r>
                        <a:rPr lang="en-IN" dirty="0"/>
                        <a:t>Tracks suspicious traffic</a:t>
                      </a:r>
                    </a:p>
                  </a:txBody>
                  <a:tcPr anchor="ctr"/>
                </a:tc>
                <a:extLst>
                  <a:ext uri="{0D108BD9-81ED-4DB2-BD59-A6C34878D82A}">
                    <a16:rowId xmlns:a16="http://schemas.microsoft.com/office/drawing/2014/main" val="1209823437"/>
                  </a:ext>
                </a:extLst>
              </a:tr>
              <a:tr h="289068">
                <a:tc>
                  <a:txBody>
                    <a:bodyPr/>
                    <a:lstStyle/>
                    <a:p>
                      <a:pPr>
                        <a:buNone/>
                      </a:pPr>
                      <a:r>
                        <a:rPr lang="en-IN" dirty="0"/>
                        <a:t>Threat Intelligence</a:t>
                      </a:r>
                    </a:p>
                  </a:txBody>
                  <a:tcPr anchor="ctr"/>
                </a:tc>
                <a:tc>
                  <a:txBody>
                    <a:bodyPr/>
                    <a:lstStyle/>
                    <a:p>
                      <a:pPr>
                        <a:buNone/>
                      </a:pPr>
                      <a:r>
                        <a:rPr lang="en-IN" dirty="0"/>
                        <a:t>Uses malware threat feeds</a:t>
                      </a:r>
                    </a:p>
                  </a:txBody>
                  <a:tcPr anchor="ctr"/>
                </a:tc>
                <a:extLst>
                  <a:ext uri="{0D108BD9-81ED-4DB2-BD59-A6C34878D82A}">
                    <a16:rowId xmlns:a16="http://schemas.microsoft.com/office/drawing/2014/main" val="2998445186"/>
                  </a:ext>
                </a:extLst>
              </a:tr>
              <a:tr h="289068">
                <a:tc>
                  <a:txBody>
                    <a:bodyPr/>
                    <a:lstStyle/>
                    <a:p>
                      <a:pPr>
                        <a:buNone/>
                      </a:pPr>
                      <a:r>
                        <a:rPr lang="en-IN" dirty="0"/>
                        <a:t>Backend (</a:t>
                      </a:r>
                      <a:r>
                        <a:rPr lang="en-IN" dirty="0" err="1"/>
                        <a:t>FastAPI</a:t>
                      </a:r>
                      <a:r>
                        <a:rPr lang="en-IN" dirty="0"/>
                        <a:t>)</a:t>
                      </a:r>
                    </a:p>
                  </a:txBody>
                  <a:tcPr anchor="ctr"/>
                </a:tc>
                <a:tc>
                  <a:txBody>
                    <a:bodyPr/>
                    <a:lstStyle/>
                    <a:p>
                      <a:pPr>
                        <a:buNone/>
                      </a:pPr>
                      <a:r>
                        <a:rPr lang="en-IN" dirty="0"/>
                        <a:t>Handles data &amp; processing</a:t>
                      </a:r>
                    </a:p>
                  </a:txBody>
                  <a:tcPr anchor="ctr"/>
                </a:tc>
                <a:extLst>
                  <a:ext uri="{0D108BD9-81ED-4DB2-BD59-A6C34878D82A}">
                    <a16:rowId xmlns:a16="http://schemas.microsoft.com/office/drawing/2014/main" val="1702453928"/>
                  </a:ext>
                </a:extLst>
              </a:tr>
              <a:tr h="289068">
                <a:tc>
                  <a:txBody>
                    <a:bodyPr/>
                    <a:lstStyle/>
                    <a:p>
                      <a:pPr>
                        <a:buNone/>
                      </a:pPr>
                      <a:r>
                        <a:rPr lang="en-IN" dirty="0"/>
                        <a:t>Database (</a:t>
                      </a:r>
                      <a:r>
                        <a:rPr lang="en-IN" dirty="0" err="1"/>
                        <a:t>Supabase</a:t>
                      </a:r>
                      <a:r>
                        <a:rPr lang="en-IN" dirty="0"/>
                        <a:t>)</a:t>
                      </a:r>
                    </a:p>
                  </a:txBody>
                  <a:tcPr anchor="ctr"/>
                </a:tc>
                <a:tc>
                  <a:txBody>
                    <a:bodyPr/>
                    <a:lstStyle/>
                    <a:p>
                      <a:pPr>
                        <a:buNone/>
                      </a:pPr>
                      <a:r>
                        <a:rPr lang="en-IN" dirty="0"/>
                        <a:t>Stores user data &amp; results</a:t>
                      </a:r>
                    </a:p>
                  </a:txBody>
                  <a:tcPr anchor="ctr"/>
                </a:tc>
                <a:extLst>
                  <a:ext uri="{0D108BD9-81ED-4DB2-BD59-A6C34878D82A}">
                    <a16:rowId xmlns:a16="http://schemas.microsoft.com/office/drawing/2014/main" val="901309147"/>
                  </a:ext>
                </a:extLst>
              </a:tr>
              <a:tr h="420286">
                <a:tc>
                  <a:txBody>
                    <a:bodyPr/>
                    <a:lstStyle/>
                    <a:p>
                      <a:pPr>
                        <a:buNone/>
                      </a:pPr>
                      <a:r>
                        <a:rPr lang="en-IN" dirty="0"/>
                        <a:t>Frontend (React Native)</a:t>
                      </a:r>
                    </a:p>
                  </a:txBody>
                  <a:tcPr anchor="ctr"/>
                </a:tc>
                <a:tc>
                  <a:txBody>
                    <a:bodyPr/>
                    <a:lstStyle/>
                    <a:p>
                      <a:pPr>
                        <a:buNone/>
                      </a:pPr>
                      <a:r>
                        <a:rPr lang="en-US" dirty="0"/>
                        <a:t>Shows alerts to the user</a:t>
                      </a:r>
                    </a:p>
                  </a:txBody>
                  <a:tcPr anchor="ctr"/>
                </a:tc>
                <a:extLst>
                  <a:ext uri="{0D108BD9-81ED-4DB2-BD59-A6C34878D82A}">
                    <a16:rowId xmlns:a16="http://schemas.microsoft.com/office/drawing/2014/main" val="2757507060"/>
                  </a:ext>
                </a:extLst>
              </a:tr>
            </a:tbl>
          </a:graphicData>
        </a:graphic>
      </p:graphicFrame>
    </p:spTree>
    <p:extLst>
      <p:ext uri="{BB962C8B-B14F-4D97-AF65-F5344CB8AC3E}">
        <p14:creationId xmlns:p14="http://schemas.microsoft.com/office/powerpoint/2010/main" val="9464844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mj-lt"/>
                <a:ea typeface="Cambria" panose="02040503050406030204" pitchFamily="18" charset="0"/>
              </a:rPr>
              <a:t>Software Details:</a:t>
            </a:r>
          </a:p>
        </p:txBody>
      </p:sp>
      <p:sp>
        <p:nvSpPr>
          <p:cNvPr id="115" name="Google Shape;115;p17"/>
          <p:cNvSpPr txBox="1">
            <a:spLocks noGrp="1"/>
          </p:cNvSpPr>
          <p:nvPr>
            <p:ph type="body" idx="1"/>
          </p:nvPr>
        </p:nvSpPr>
        <p:spPr>
          <a:xfrm>
            <a:off x="812800" y="1143000"/>
            <a:ext cx="4874768" cy="4953000"/>
          </a:xfrm>
          <a:prstGeom prst="rect">
            <a:avLst/>
          </a:prstGeom>
          <a:noFill/>
          <a:ln>
            <a:noFill/>
          </a:ln>
        </p:spPr>
        <p:txBody>
          <a:bodyPr spcFirstLastPara="1" wrap="square" lIns="91425" tIns="45700" rIns="91425" bIns="45700" anchor="t" anchorCtr="0">
            <a:normAutofit/>
          </a:bodyPr>
          <a:lstStyle/>
          <a:p>
            <a:pPr marL="76200" indent="0">
              <a:buNone/>
            </a:pPr>
            <a:r>
              <a:rPr lang="en-IN" sz="2000" b="1" dirty="0">
                <a:latin typeface="+mj-lt"/>
              </a:rPr>
              <a:t>Software Requirements:</a:t>
            </a:r>
          </a:p>
          <a:p>
            <a:endParaRPr lang="en-IN" sz="1800" b="1" dirty="0">
              <a:latin typeface="+mj-lt"/>
            </a:endParaRPr>
          </a:p>
          <a:p>
            <a:r>
              <a:rPr lang="en-IN" sz="1800" dirty="0">
                <a:latin typeface="+mj-lt"/>
              </a:rPr>
              <a:t>OS: Windows / Linux / macOS</a:t>
            </a:r>
          </a:p>
          <a:p>
            <a:endParaRPr lang="en-IN" sz="1800" dirty="0">
              <a:latin typeface="+mj-lt"/>
            </a:endParaRPr>
          </a:p>
          <a:p>
            <a:r>
              <a:rPr lang="en-IN" sz="1800" dirty="0">
                <a:latin typeface="+mj-lt"/>
              </a:rPr>
              <a:t>React Native (Frontend)</a:t>
            </a:r>
          </a:p>
          <a:p>
            <a:endParaRPr lang="en-IN" sz="1800" dirty="0">
              <a:latin typeface="+mj-lt"/>
            </a:endParaRPr>
          </a:p>
          <a:p>
            <a:r>
              <a:rPr lang="en-IN" sz="1800" dirty="0" err="1">
                <a:latin typeface="+mj-lt"/>
              </a:rPr>
              <a:t>FastAPI</a:t>
            </a:r>
            <a:r>
              <a:rPr lang="en-IN" sz="1800" dirty="0">
                <a:latin typeface="+mj-lt"/>
              </a:rPr>
              <a:t> – Python (Backend)</a:t>
            </a:r>
          </a:p>
          <a:p>
            <a:endParaRPr lang="en-IN" sz="1800" dirty="0">
              <a:latin typeface="+mj-lt"/>
            </a:endParaRPr>
          </a:p>
          <a:p>
            <a:r>
              <a:rPr lang="en-IN" sz="1800" dirty="0" err="1">
                <a:latin typeface="+mj-lt"/>
              </a:rPr>
              <a:t>Supabase</a:t>
            </a:r>
            <a:r>
              <a:rPr lang="en-IN" sz="1800" dirty="0">
                <a:latin typeface="+mj-lt"/>
              </a:rPr>
              <a:t> (Database)</a:t>
            </a:r>
          </a:p>
          <a:p>
            <a:endParaRPr lang="en-IN" sz="1800" dirty="0">
              <a:latin typeface="+mj-lt"/>
            </a:endParaRPr>
          </a:p>
          <a:p>
            <a:r>
              <a:rPr lang="en-IN" sz="1800" dirty="0">
                <a:latin typeface="+mj-lt"/>
              </a:rPr>
              <a:t>GitHub (Version Control &amp; Deployment)</a:t>
            </a:r>
          </a:p>
          <a:p>
            <a:endParaRPr lang="en-IN" altLang="en-US" sz="1800" b="1" dirty="0">
              <a:solidFill>
                <a:schemeClr val="tx1"/>
              </a:solidFill>
              <a:latin typeface="+mj-lt"/>
            </a:endParaRPr>
          </a:p>
          <a:p>
            <a:r>
              <a:rPr lang="en-US" altLang="en-US" sz="1800" dirty="0">
                <a:solidFill>
                  <a:schemeClr val="tx1"/>
                </a:solidFill>
                <a:latin typeface="+mj-lt"/>
              </a:rPr>
              <a:t>Cybersecurity Tools: </a:t>
            </a:r>
            <a:r>
              <a:rPr lang="en-US" altLang="en-US" sz="1800" dirty="0" err="1">
                <a:solidFill>
                  <a:schemeClr val="tx1"/>
                </a:solidFill>
                <a:latin typeface="+mj-lt"/>
              </a:rPr>
              <a:t>MobSF</a:t>
            </a:r>
            <a:r>
              <a:rPr lang="en-US" altLang="en-US" sz="1800" dirty="0">
                <a:solidFill>
                  <a:schemeClr val="tx1"/>
                </a:solidFill>
                <a:latin typeface="+mj-lt"/>
              </a:rPr>
              <a:t>, </a:t>
            </a:r>
            <a:r>
              <a:rPr lang="en-US" altLang="en-US" sz="1800" dirty="0" err="1">
                <a:solidFill>
                  <a:schemeClr val="tx1"/>
                </a:solidFill>
                <a:latin typeface="+mj-lt"/>
              </a:rPr>
              <a:t>Scapy</a:t>
            </a:r>
            <a:r>
              <a:rPr lang="en-US" altLang="en-US" sz="1800" dirty="0">
                <a:solidFill>
                  <a:schemeClr val="tx1"/>
                </a:solidFill>
                <a:latin typeface="+mj-lt"/>
              </a:rPr>
              <a:t>, MISP</a:t>
            </a:r>
          </a:p>
          <a:p>
            <a:pPr marL="342900" lvl="0" indent="-342900" eaLnBrk="0" fontAlgn="base" hangingPunct="0">
              <a:spcBef>
                <a:spcPct val="0"/>
              </a:spcBef>
              <a:spcAft>
                <a:spcPct val="0"/>
              </a:spcAft>
              <a:buClrTx/>
              <a:buSzTx/>
              <a:buFont typeface="Arial" panose="020B0604020202020204" pitchFamily="34" charset="0"/>
              <a:buChar char="•"/>
            </a:pPr>
            <a:endParaRPr lang="en-US" altLang="en-US" sz="1800" b="1" dirty="0">
              <a:solidFill>
                <a:schemeClr val="tx1"/>
              </a:solidFill>
              <a:latin typeface="+mj-lt"/>
            </a:endParaRPr>
          </a:p>
          <a:p>
            <a:endParaRPr lang="en-IN" sz="1800" dirty="0">
              <a:latin typeface="+mj-lt"/>
            </a:endParaRPr>
          </a:p>
          <a:p>
            <a:pPr marL="342900" lvl="0" indent="-190500" algn="just" rtl="0">
              <a:lnSpc>
                <a:spcPct val="200000"/>
              </a:lnSpc>
              <a:spcBef>
                <a:spcPts val="0"/>
              </a:spcBef>
              <a:spcAft>
                <a:spcPts val="0"/>
              </a:spcAft>
              <a:buClr>
                <a:schemeClr val="dk1"/>
              </a:buClr>
              <a:buSzPct val="100000"/>
              <a:buNone/>
            </a:pPr>
            <a:endParaRPr lang="en-US" sz="1800" dirty="0">
              <a:latin typeface="+mj-lt"/>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sz="1800" dirty="0">
              <a:latin typeface="+mj-lt"/>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mj-lt"/>
                <a:ea typeface="Cambria" panose="02040503050406030204" pitchFamily="18" charset="0"/>
              </a:rPr>
              <a:t>Timeline of the Project (Gantt Chart)</a:t>
            </a:r>
            <a:endParaRPr dirty="0">
              <a:latin typeface="+mj-lt"/>
              <a:ea typeface="Cambria" panose="02040503050406030204" pitchFamily="18" charset="0"/>
            </a:endParaRPr>
          </a:p>
        </p:txBody>
      </p:sp>
      <p:pic>
        <p:nvPicPr>
          <p:cNvPr id="5" name="Picture 4">
            <a:extLst>
              <a:ext uri="{FF2B5EF4-FFF2-40B4-BE49-F238E27FC236}">
                <a16:creationId xmlns:a16="http://schemas.microsoft.com/office/drawing/2014/main" id="{7782A713-0141-6B8B-A854-A06A71B28604}"/>
              </a:ext>
            </a:extLst>
          </p:cNvPr>
          <p:cNvPicPr>
            <a:picLocks noChangeAspect="1"/>
          </p:cNvPicPr>
          <p:nvPr/>
        </p:nvPicPr>
        <p:blipFill>
          <a:blip r:embed="rId3"/>
          <a:srcRect t="11111" b="29947"/>
          <a:stretch>
            <a:fillRect/>
          </a:stretch>
        </p:blipFill>
        <p:spPr>
          <a:xfrm>
            <a:off x="812801" y="1248229"/>
            <a:ext cx="10668000" cy="4731657"/>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mj-lt"/>
                <a:ea typeface="Cambria" panose="02040503050406030204" pitchFamily="18" charset="0"/>
              </a:rPr>
              <a:t>References (IEEE Paper format)</a:t>
            </a:r>
            <a:endParaRPr dirty="0">
              <a:latin typeface="+mj-lt"/>
              <a:ea typeface="Cambria" panose="02040503050406030204" pitchFamily="18" charset="0"/>
            </a:endParaRPr>
          </a:p>
        </p:txBody>
      </p:sp>
      <p:sp>
        <p:nvSpPr>
          <p:cNvPr id="145" name="Google Shape;145;p22"/>
          <p:cNvSpPr txBox="1">
            <a:spLocks noGrp="1"/>
          </p:cNvSpPr>
          <p:nvPr>
            <p:ph type="body" idx="1"/>
          </p:nvPr>
        </p:nvSpPr>
        <p:spPr>
          <a:xfrm>
            <a:off x="507999" y="1143001"/>
            <a:ext cx="11361271" cy="4664675"/>
          </a:xfrm>
          <a:prstGeom prst="rect">
            <a:avLst/>
          </a:prstGeom>
          <a:noFill/>
          <a:ln>
            <a:noFill/>
          </a:ln>
        </p:spPr>
        <p:txBody>
          <a:bodyPr spcFirstLastPara="1" wrap="square" lIns="91425" tIns="45700" rIns="91425" bIns="45700" anchor="t" anchorCtr="0">
            <a:noAutofit/>
          </a:bodyPr>
          <a:lstStyle/>
          <a:p>
            <a:pPr>
              <a:buSzPct val="150000"/>
              <a:buFont typeface="+mj-lt"/>
              <a:buAutoNum type="arabicPeriod"/>
            </a:pPr>
            <a:r>
              <a:rPr lang="en-IN" sz="1100" dirty="0">
                <a:latin typeface="+mj-lt"/>
              </a:rPr>
              <a:t>J. </a:t>
            </a:r>
            <a:r>
              <a:rPr lang="en-IN" sz="1100" dirty="0" err="1">
                <a:latin typeface="+mj-lt"/>
              </a:rPr>
              <a:t>Keteku</a:t>
            </a:r>
            <a:r>
              <a:rPr lang="en-IN" sz="1100" dirty="0">
                <a:latin typeface="+mj-lt"/>
              </a:rPr>
              <a:t>, G. O. </a:t>
            </a:r>
            <a:r>
              <a:rPr lang="en-IN" sz="1100" dirty="0" err="1">
                <a:latin typeface="+mj-lt"/>
              </a:rPr>
              <a:t>Dameh</a:t>
            </a:r>
            <a:r>
              <a:rPr lang="en-IN" sz="1100" dirty="0">
                <a:latin typeface="+mj-lt"/>
              </a:rPr>
              <a:t>, S. A. Mante, T. K. Mensah, S. L. Amartey, and J.-B. </a:t>
            </a:r>
            <a:r>
              <a:rPr lang="en-IN" sz="1100" dirty="0" err="1">
                <a:latin typeface="+mj-lt"/>
              </a:rPr>
              <a:t>Diekuu</a:t>
            </a:r>
            <a:r>
              <a:rPr lang="en-IN" sz="1100" dirty="0">
                <a:latin typeface="+mj-lt"/>
              </a:rPr>
              <a:t>, "Detection and Prevention of Malware in Android Mobile Devices: A Literature Review," </a:t>
            </a:r>
            <a:r>
              <a:rPr lang="en-IN" sz="1100" i="1" dirty="0">
                <a:latin typeface="+mj-lt"/>
              </a:rPr>
              <a:t>International Journal of Intelligence Science</a:t>
            </a:r>
            <a:r>
              <a:rPr lang="en-IN" sz="1100" dirty="0">
                <a:latin typeface="+mj-lt"/>
              </a:rPr>
              <a:t>, vol. 14, no. 4, Oct. 2024, </a:t>
            </a:r>
            <a:r>
              <a:rPr lang="en-IN" sz="1100" dirty="0" err="1">
                <a:latin typeface="+mj-lt"/>
              </a:rPr>
              <a:t>doi</a:t>
            </a:r>
            <a:r>
              <a:rPr lang="en-IN" sz="1100" dirty="0">
                <a:latin typeface="+mj-lt"/>
              </a:rPr>
              <a:t>: 10.4236/ijis.2024.144005.</a:t>
            </a:r>
          </a:p>
          <a:p>
            <a:pPr>
              <a:buSzPct val="150000"/>
              <a:buFont typeface="+mj-lt"/>
              <a:buAutoNum type="arabicPeriod"/>
            </a:pPr>
            <a:r>
              <a:rPr lang="en-IN" sz="1100" dirty="0">
                <a:latin typeface="+mj-lt"/>
              </a:rPr>
              <a:t> S. </a:t>
            </a:r>
            <a:r>
              <a:rPr lang="en-IN" sz="1100" dirty="0" err="1">
                <a:latin typeface="+mj-lt"/>
              </a:rPr>
              <a:t>Kandukuru</a:t>
            </a:r>
            <a:r>
              <a:rPr lang="en-IN" sz="1100" dirty="0">
                <a:latin typeface="+mj-lt"/>
              </a:rPr>
              <a:t> and R. M. Sharma, "Android Malicious Application Using Permission Vector and Network Traffic Analysis," in </a:t>
            </a:r>
            <a:r>
              <a:rPr lang="en-IN" sz="1100" i="1" dirty="0">
                <a:latin typeface="+mj-lt"/>
              </a:rPr>
              <a:t>2017 2nd International Conference for Convergence in Technology (I2CT)</a:t>
            </a:r>
            <a:r>
              <a:rPr lang="en-IN" sz="1100" dirty="0">
                <a:latin typeface="+mj-lt"/>
              </a:rPr>
              <a:t>, Pune, India, 2017, pp. 221–226, </a:t>
            </a:r>
            <a:r>
              <a:rPr lang="en-IN" sz="1100" dirty="0" err="1">
                <a:latin typeface="+mj-lt"/>
              </a:rPr>
              <a:t>doi</a:t>
            </a:r>
            <a:r>
              <a:rPr lang="en-IN" sz="1100" dirty="0">
                <a:latin typeface="+mj-lt"/>
              </a:rPr>
              <a:t>: 10.1109/I2CT.2017.822603.</a:t>
            </a:r>
          </a:p>
          <a:p>
            <a:pPr>
              <a:buSzPct val="150000"/>
              <a:buFont typeface="+mj-lt"/>
              <a:buAutoNum type="arabicPeriod"/>
            </a:pPr>
            <a:r>
              <a:rPr lang="en-IN" sz="1100" dirty="0">
                <a:latin typeface="+mj-lt"/>
              </a:rPr>
              <a:t>A. M. S. Abhijith, K. R. Druva, H. K., G. D., and G. S. </a:t>
            </a:r>
            <a:r>
              <a:rPr lang="en-IN" sz="1100" dirty="0" err="1">
                <a:latin typeface="+mj-lt"/>
              </a:rPr>
              <a:t>Rapate</a:t>
            </a:r>
            <a:r>
              <a:rPr lang="en-IN" sz="1100" dirty="0">
                <a:latin typeface="+mj-lt"/>
              </a:rPr>
              <a:t>, "Detection of Mobile Malware (ANDROID) using ML and Hybrid Analysis," in </a:t>
            </a:r>
            <a:r>
              <a:rPr lang="en-IN" sz="1100" i="1" dirty="0">
                <a:latin typeface="+mj-lt"/>
              </a:rPr>
              <a:t>Proceedings of the 7th Asia Pacific Information Technology Conference (APIT 2025)</a:t>
            </a:r>
            <a:r>
              <a:rPr lang="en-IN" sz="1100" dirty="0">
                <a:latin typeface="+mj-lt"/>
              </a:rPr>
              <a:t>, Hong Kong, China, Jan. 2025, pp. 1–6, </a:t>
            </a:r>
            <a:r>
              <a:rPr lang="en-IN" sz="1100" dirty="0" err="1">
                <a:latin typeface="+mj-lt"/>
              </a:rPr>
              <a:t>doi</a:t>
            </a:r>
            <a:r>
              <a:rPr lang="en-IN" sz="1100" dirty="0">
                <a:latin typeface="+mj-lt"/>
              </a:rPr>
              <a:t>: 10.1145/3726101.3726103.</a:t>
            </a:r>
          </a:p>
          <a:p>
            <a:pPr>
              <a:buSzPct val="150000"/>
              <a:buFont typeface="+mj-lt"/>
              <a:buAutoNum type="arabicPeriod"/>
            </a:pPr>
            <a:r>
              <a:rPr lang="en-IN" sz="1100" dirty="0">
                <a:latin typeface="+mj-lt"/>
              </a:rPr>
              <a:t>A. </a:t>
            </a:r>
            <a:r>
              <a:rPr lang="en-IN" sz="1100" dirty="0" err="1">
                <a:latin typeface="+mj-lt"/>
              </a:rPr>
              <a:t>Kapratwar</a:t>
            </a:r>
            <a:r>
              <a:rPr lang="en-IN" sz="1100" dirty="0">
                <a:latin typeface="+mj-lt"/>
              </a:rPr>
              <a:t>, "Static and Dynamic Analysis for Android Malware Detection," M.S. thesis, Dept. Computer Science, San Jose State University, San Jose, CA, USA, 2016. [Online]. Available: </a:t>
            </a:r>
            <a:r>
              <a:rPr lang="en-IN" sz="1100" dirty="0">
                <a:latin typeface="+mj-lt"/>
                <a:hlinkClick r:id="rId3"/>
              </a:rPr>
              <a:t>https://scholarworks.sjsu.edu/etd_projects/488</a:t>
            </a:r>
            <a:endParaRPr lang="en-IN" sz="1100" dirty="0">
              <a:latin typeface="+mj-lt"/>
            </a:endParaRPr>
          </a:p>
          <a:p>
            <a:pPr>
              <a:buSzPct val="150000"/>
              <a:buFont typeface="+mj-lt"/>
              <a:buAutoNum type="arabicPeriod"/>
            </a:pPr>
            <a:r>
              <a:rPr lang="en-IN" sz="1100" dirty="0">
                <a:latin typeface="+mj-lt"/>
              </a:rPr>
              <a:t>R. A. </a:t>
            </a:r>
            <a:r>
              <a:rPr lang="en-IN" sz="1100" dirty="0" err="1">
                <a:latin typeface="+mj-lt"/>
              </a:rPr>
              <a:t>Yunmar</a:t>
            </a:r>
            <a:r>
              <a:rPr lang="en-IN" sz="1100" dirty="0">
                <a:latin typeface="+mj-lt"/>
              </a:rPr>
              <a:t>, S. S. </a:t>
            </a:r>
            <a:r>
              <a:rPr lang="en-IN" sz="1100" dirty="0" err="1">
                <a:latin typeface="+mj-lt"/>
              </a:rPr>
              <a:t>Kusumwardani</a:t>
            </a:r>
            <a:r>
              <a:rPr lang="en-IN" sz="1100" dirty="0">
                <a:latin typeface="+mj-lt"/>
              </a:rPr>
              <a:t>, </a:t>
            </a:r>
            <a:r>
              <a:rPr lang="en-IN" sz="1100" dirty="0" err="1">
                <a:latin typeface="+mj-lt"/>
              </a:rPr>
              <a:t>Widyawan</a:t>
            </a:r>
            <a:r>
              <a:rPr lang="en-IN" sz="1100" dirty="0">
                <a:latin typeface="+mj-lt"/>
              </a:rPr>
              <a:t>, and F. Mohsen, "Hybrid Android Malware Detection: A Review of Heuristic-Based Approach," </a:t>
            </a:r>
            <a:r>
              <a:rPr lang="en-IN" sz="1100" i="1" dirty="0">
                <a:latin typeface="+mj-lt"/>
              </a:rPr>
              <a:t>IEEE Access</a:t>
            </a:r>
            <a:r>
              <a:rPr lang="en-IN" sz="1100" dirty="0">
                <a:latin typeface="+mj-lt"/>
              </a:rPr>
              <a:t>, vol. 12, pp. 41254–41287, 2024, </a:t>
            </a:r>
            <a:r>
              <a:rPr lang="en-IN" sz="1100" dirty="0" err="1">
                <a:latin typeface="+mj-lt"/>
              </a:rPr>
              <a:t>doi</a:t>
            </a:r>
            <a:r>
              <a:rPr lang="en-IN" sz="1100" dirty="0">
                <a:latin typeface="+mj-lt"/>
              </a:rPr>
              <a:t>: 10.1109/ACCESS.2024.3377658.</a:t>
            </a:r>
          </a:p>
          <a:p>
            <a:pPr>
              <a:buSzPct val="150000"/>
              <a:buFont typeface="+mj-lt"/>
              <a:buAutoNum type="arabicPeriod"/>
            </a:pPr>
            <a:r>
              <a:rPr lang="en-IN" sz="1100" dirty="0">
                <a:latin typeface="+mj-lt"/>
              </a:rPr>
              <a:t>A. Mohanraj and K. Sivasankari, "Android traffic malware analysis and detection using ensemble classifier," </a:t>
            </a:r>
            <a:r>
              <a:rPr lang="en-IN" sz="1100" i="1" dirty="0">
                <a:latin typeface="+mj-lt"/>
              </a:rPr>
              <a:t>Ain Shams Engineering Journal</a:t>
            </a:r>
            <a:r>
              <a:rPr lang="en-IN" sz="1100" dirty="0">
                <a:latin typeface="+mj-lt"/>
              </a:rPr>
              <a:t>, vol. 15, 2024, Art. no. 103134, </a:t>
            </a:r>
            <a:r>
              <a:rPr lang="en-IN" sz="1100" dirty="0" err="1">
                <a:latin typeface="+mj-lt"/>
              </a:rPr>
              <a:t>doi</a:t>
            </a:r>
            <a:r>
              <a:rPr lang="en-IN" sz="1100" dirty="0">
                <a:latin typeface="+mj-lt"/>
              </a:rPr>
              <a:t>: 10.1016/j.asej.2024.103134.</a:t>
            </a:r>
          </a:p>
          <a:p>
            <a:pPr>
              <a:buSzPct val="150000"/>
              <a:buFont typeface="+mj-lt"/>
              <a:buAutoNum type="arabicPeriod"/>
            </a:pPr>
            <a:r>
              <a:rPr lang="en-IN" sz="1100" dirty="0">
                <a:latin typeface="+mj-lt"/>
              </a:rPr>
              <a:t> </a:t>
            </a:r>
            <a:r>
              <a:rPr lang="en-IN" sz="1100" dirty="0" err="1">
                <a:latin typeface="+mj-lt"/>
              </a:rPr>
              <a:t>Kazım</a:t>
            </a:r>
            <a:r>
              <a:rPr lang="en-IN" sz="1100" dirty="0">
                <a:latin typeface="+mj-lt"/>
              </a:rPr>
              <a:t> Kılıç, ˙Ismail </a:t>
            </a:r>
            <a:r>
              <a:rPr lang="en-IN" sz="1100" dirty="0" err="1">
                <a:latin typeface="+mj-lt"/>
              </a:rPr>
              <a:t>Atacak</a:t>
            </a:r>
            <a:r>
              <a:rPr lang="en-IN" sz="1100" dirty="0">
                <a:latin typeface="+mj-lt"/>
              </a:rPr>
              <a:t>, and ˙Ibrahim Alper </a:t>
            </a:r>
            <a:r>
              <a:rPr lang="en-IN" sz="1100" dirty="0" err="1">
                <a:latin typeface="+mj-lt"/>
              </a:rPr>
              <a:t>Do˘gru</a:t>
            </a:r>
            <a:r>
              <a:rPr lang="en-IN" sz="1100" dirty="0">
                <a:latin typeface="+mj-lt"/>
              </a:rPr>
              <a:t>, "</a:t>
            </a:r>
            <a:r>
              <a:rPr lang="en-IN" sz="1100" dirty="0" err="1">
                <a:latin typeface="+mj-lt"/>
              </a:rPr>
              <a:t>FABLDroid</a:t>
            </a:r>
            <a:r>
              <a:rPr lang="en-IN" sz="1100" dirty="0">
                <a:latin typeface="+mj-lt"/>
              </a:rPr>
              <a:t>: Malware detection based on hybrid analysis with factor analysis and broad learning methods for android applications," </a:t>
            </a:r>
            <a:r>
              <a:rPr lang="en-IN" sz="1100" i="1" dirty="0">
                <a:latin typeface="+mj-lt"/>
              </a:rPr>
              <a:t>Engineering Science and Technology, an International Journal</a:t>
            </a:r>
            <a:r>
              <a:rPr lang="en-IN" sz="1100" dirty="0">
                <a:latin typeface="+mj-lt"/>
              </a:rPr>
              <a:t>, vol. 62, 2025, Art. no. 101945, </a:t>
            </a:r>
            <a:r>
              <a:rPr lang="en-IN" sz="1100" dirty="0" err="1">
                <a:latin typeface="+mj-lt"/>
              </a:rPr>
              <a:t>doi</a:t>
            </a:r>
            <a:r>
              <a:rPr lang="en-IN" sz="1100" dirty="0">
                <a:latin typeface="+mj-lt"/>
              </a:rPr>
              <a:t>: 10.1016/j.jestch.2024.101945.</a:t>
            </a:r>
          </a:p>
          <a:p>
            <a:pPr>
              <a:buSzPct val="150000"/>
              <a:buFont typeface="+mj-lt"/>
              <a:buAutoNum type="arabicPeriod"/>
            </a:pPr>
            <a:r>
              <a:rPr lang="en-US" sz="1100" dirty="0" err="1">
                <a:latin typeface="+mj-lt"/>
              </a:rPr>
              <a:t>Ashawa</a:t>
            </a:r>
            <a:r>
              <a:rPr lang="en-US" sz="1100" dirty="0">
                <a:latin typeface="+mj-lt"/>
              </a:rPr>
              <a:t>, M. A., &amp; Morris, S. (2019). Analysis of Android malware detection techniques: A systematic review. International Journal of Cyber-Security and Digital Forensics, 8(3), 177-194. </a:t>
            </a:r>
            <a:r>
              <a:rPr lang="en-US" sz="1100" dirty="0">
                <a:latin typeface="+mj-lt"/>
                <a:hlinkClick r:id="rId4"/>
              </a:rPr>
              <a:t>https://doi.org/10.17781/p002605</a:t>
            </a:r>
            <a:endParaRPr lang="en-IN" sz="1100" dirty="0">
              <a:latin typeface="+mj-lt"/>
            </a:endParaRPr>
          </a:p>
          <a:p>
            <a:pPr>
              <a:buSzPct val="150000"/>
              <a:buFont typeface="+mj-lt"/>
              <a:buAutoNum type="arabicPeriod"/>
            </a:pPr>
            <a:r>
              <a:rPr lang="en-US" sz="1100" dirty="0">
                <a:latin typeface="+mj-lt"/>
              </a:rPr>
              <a:t>Kulkarni, K., &amp; Javaid, A. (Year Unknown). Open Source Android Vulnerability Detection Tools: A Survey. IEEE.</a:t>
            </a:r>
            <a:endParaRPr lang="en-IN" sz="1100" dirty="0">
              <a:latin typeface="+mj-lt"/>
            </a:endParaRPr>
          </a:p>
          <a:p>
            <a:pPr>
              <a:buSzPct val="150000"/>
              <a:buFont typeface="+mj-lt"/>
              <a:buAutoNum type="arabicPeriod"/>
            </a:pPr>
            <a:r>
              <a:rPr lang="en-US" sz="1100" dirty="0">
                <a:latin typeface="+mj-lt"/>
              </a:rPr>
              <a:t>Shakya, S., &amp; Dave, M. (Year Unknown). Analysis, Detection, and Classification of Android Malware using System Calls.</a:t>
            </a:r>
          </a:p>
          <a:p>
            <a:pPr>
              <a:buSzPct val="150000"/>
              <a:buFont typeface="+mj-lt"/>
              <a:buAutoNum type="arabicPeriod"/>
            </a:pPr>
            <a:endParaRPr lang="en-IN" sz="1100" dirty="0">
              <a:latin typeface="+mj-lt"/>
            </a:endParaRPr>
          </a:p>
          <a:p>
            <a:pPr>
              <a:buSzPct val="150000"/>
              <a:buFont typeface="+mj-lt"/>
              <a:buAutoNum type="arabicPeriod"/>
            </a:pPr>
            <a:endParaRPr lang="en-IN" sz="1100" dirty="0">
              <a:latin typeface="+mj-lt"/>
            </a:endParaRPr>
          </a:p>
          <a:p>
            <a:pPr marL="838200" lvl="1" indent="-228600">
              <a:spcBef>
                <a:spcPts val="0"/>
              </a:spcBef>
              <a:buSzPct val="150000"/>
              <a:buFont typeface="+mj-lt"/>
              <a:buAutoNum type="arabicPeriod"/>
            </a:pPr>
            <a:endParaRPr lang="en-US" sz="1100" dirty="0">
              <a:latin typeface="+mj-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1124</TotalTime>
  <Words>1987</Words>
  <Application>Microsoft Office PowerPoint</Application>
  <PresentationFormat>Widescreen</PresentationFormat>
  <Paragraphs>182</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Cambria</vt:lpstr>
      <vt:lpstr>Verdana</vt:lpstr>
      <vt:lpstr>Wingdings</vt:lpstr>
      <vt:lpstr>Bioinformatics</vt:lpstr>
      <vt:lpstr>Analysis and Identification of Malicious Mobile Applications</vt:lpstr>
      <vt:lpstr>Content</vt:lpstr>
      <vt:lpstr>Problem Statement Number: 68 Analysis and Identification of Malicious Mobile Applications</vt:lpstr>
      <vt:lpstr>Abstract</vt:lpstr>
      <vt:lpstr>Literature Survey (sources in references)</vt:lpstr>
      <vt:lpstr>Literature Survey (cont.) </vt:lpstr>
      <vt:lpstr>Literature Survey (cont.)</vt:lpstr>
      <vt:lpstr>Objectives</vt:lpstr>
      <vt:lpstr>Existing Methods and Drawbacks</vt:lpstr>
      <vt:lpstr>Existing Methods and Drawbacks (cont.)</vt:lpstr>
      <vt:lpstr>Proposed Method &amp; Feasibility Study</vt:lpstr>
      <vt:lpstr>System Architecture Diagram</vt:lpstr>
      <vt:lpstr>Modules</vt:lpstr>
      <vt:lpstr>Software Details:</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Tanisha N</cp:lastModifiedBy>
  <cp:revision>50</cp:revision>
  <dcterms:modified xsi:type="dcterms:W3CDTF">2025-09-11T08:04:33Z</dcterms:modified>
</cp:coreProperties>
</file>