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9" r:id="rId3"/>
    <p:sldId id="257" r:id="rId4"/>
    <p:sldId id="273" r:id="rId5"/>
    <p:sldId id="279" r:id="rId6"/>
    <p:sldId id="277" r:id="rId7"/>
    <p:sldId id="278" r:id="rId8"/>
    <p:sldId id="268" r:id="rId9"/>
    <p:sldId id="272" r:id="rId10"/>
    <p:sldId id="271" r:id="rId11"/>
    <p:sldId id="274" r:id="rId12"/>
    <p:sldId id="270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E7DC8-3FB0-4748-AFF4-2569151FD9C3}" v="2" dt="2025-08-20T08:33:42.702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1" d="100"/>
          <a:sy n="41" d="100"/>
        </p:scale>
        <p:origin x="312" y="8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F9592EFD-9D70-19C7-0EEF-549FB9CC2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>
            <a:extLst>
              <a:ext uri="{FF2B5EF4-FFF2-40B4-BE49-F238E27FC236}">
                <a16:creationId xmlns:a16="http://schemas.microsoft.com/office/drawing/2014/main" id="{52700626-F5C2-9F4C-65D9-60FA8B0D9E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>
            <a:extLst>
              <a:ext uri="{FF2B5EF4-FFF2-40B4-BE49-F238E27FC236}">
                <a16:creationId xmlns:a16="http://schemas.microsoft.com/office/drawing/2014/main" id="{B99FE5D9-F058-AB55-4220-31124039C0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3000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4AAEAC49-3754-6897-1AF2-4E3BC0828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CD0BB99C-670B-E9FF-BDA5-3A5D46768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98B058FF-7E44-367C-966E-C79D8A69F0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6125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914399" y="922905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latin typeface="+mj-lt"/>
                <a:ea typeface="Cambria" panose="02040503050406030204" pitchFamily="18" charset="0"/>
              </a:rPr>
              <a:t>Analysis and Identification of Malicious Mobile Applications</a:t>
            </a:r>
            <a:endParaRPr sz="2400" dirty="0">
              <a:solidFill>
                <a:schemeClr val="tx1"/>
              </a:solidFill>
              <a:latin typeface="+mj-lt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1784301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+mj-lt"/>
                <a:ea typeface="Cambria" panose="02040503050406030204" pitchFamily="18" charset="0"/>
              </a:rPr>
              <a:t>Batch Number: CCS33</a:t>
            </a:r>
            <a:endParaRPr sz="1800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968501" y="2351229"/>
            <a:ext cx="3860784" cy="66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900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Under the Supervision of</a:t>
            </a:r>
            <a:endParaRPr sz="1900" b="1" i="0" u="none" strike="noStrike" cap="none" dirty="0">
              <a:solidFill>
                <a:srgbClr val="17365D"/>
              </a:solidFill>
              <a:latin typeface="+mj-lt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2000" b="1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 </a:t>
            </a:r>
            <a:endParaRPr sz="2000" b="1" i="0" u="none" strike="noStrike" cap="none" dirty="0">
              <a:solidFill>
                <a:srgbClr val="17365D"/>
              </a:solidFill>
              <a:latin typeface="+mj-lt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346513" y="155644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+mj-lt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+mj-lt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790468" y="4677399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</a:rPr>
              <a:t>Computer Science &amp; Engineering (Cyber Security)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18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</a:rPr>
              <a:t>Dr. Anandaraj S.P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</a:rPr>
              <a:t>Dr. </a:t>
            </a:r>
            <a:r>
              <a:rPr lang="en-IN" sz="1800" dirty="0" err="1">
                <a:solidFill>
                  <a:schemeClr val="tx1"/>
                </a:solidFill>
                <a:latin typeface="+mj-lt"/>
                <a:ea typeface="Cambria" panose="02040503050406030204" pitchFamily="18" charset="0"/>
              </a:rPr>
              <a:t>Sharmasth</a:t>
            </a:r>
            <a:r>
              <a:rPr lang="en-IN" sz="18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</a:rPr>
              <a:t> Vali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Name of the School Project Coordinators</a:t>
            </a:r>
            <a:r>
              <a:rPr lang="en-US" sz="18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i="0" u="none" strike="noStrike" cap="none" dirty="0" err="1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i="0" u="none" strike="noStrike" cap="none" dirty="0" err="1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i="0" u="none" strike="noStrike" cap="none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E0E15C-AC1A-A155-F22B-A25B55E6EAA1}"/>
              </a:ext>
            </a:extLst>
          </p:cNvPr>
          <p:cNvSpPr txBox="1"/>
          <p:nvPr/>
        </p:nvSpPr>
        <p:spPr>
          <a:xfrm>
            <a:off x="6095999" y="2809863"/>
            <a:ext cx="5605789" cy="1592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Dr. Syed Siraj Ahmed</a:t>
            </a:r>
            <a:endParaRPr lang="en-US" b="1" dirty="0">
              <a:solidFill>
                <a:schemeClr val="tx1"/>
              </a:solidFill>
              <a:latin typeface="+mj-lt"/>
              <a:ea typeface="Cambria" panose="02040503050406030204" pitchFamily="18" charset="0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8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 Associate Professor </a:t>
            </a: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8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lang="en-US" dirty="0">
              <a:solidFill>
                <a:schemeClr val="tx1"/>
              </a:solidFill>
              <a:latin typeface="+mj-lt"/>
              <a:ea typeface="Cambria" panose="02040503050406030204" pitchFamily="18" charset="0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8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dirty="0">
              <a:solidFill>
                <a:schemeClr val="tx1"/>
              </a:solidFill>
              <a:latin typeface="+mj-lt"/>
              <a:ea typeface="Cambria" panose="02040503050406030204" pitchFamily="18" charset="0"/>
            </a:endParaRPr>
          </a:p>
          <a:p>
            <a:pPr algn="ctr"/>
            <a:endParaRPr lang="en-IN" sz="1800"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ADAED0-3DCD-FED5-1FFA-40224224C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356983"/>
              </p:ext>
            </p:extLst>
          </p:nvPr>
        </p:nvGraphicFramePr>
        <p:xfrm>
          <a:off x="842179" y="2340726"/>
          <a:ext cx="4763612" cy="2133600"/>
        </p:xfrm>
        <a:graphic>
          <a:graphicData uri="http://schemas.openxmlformats.org/drawingml/2006/table">
            <a:tbl>
              <a:tblPr firstRow="1" bandRow="1">
                <a:tableStyleId>{57690726-49DA-4552-BDEB-330DD8EA8BD9}</a:tableStyleId>
              </a:tblPr>
              <a:tblGrid>
                <a:gridCol w="2381806">
                  <a:extLst>
                    <a:ext uri="{9D8B030D-6E8A-4147-A177-3AD203B41FA5}">
                      <a16:colId xmlns:a16="http://schemas.microsoft.com/office/drawing/2014/main" val="2298723312"/>
                    </a:ext>
                  </a:extLst>
                </a:gridCol>
                <a:gridCol w="2381806">
                  <a:extLst>
                    <a:ext uri="{9D8B030D-6E8A-4147-A177-3AD203B41FA5}">
                      <a16:colId xmlns:a16="http://schemas.microsoft.com/office/drawing/2014/main" val="1076577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b="1" u="none" strike="noStrike" cap="none" dirty="0">
                          <a:solidFill>
                            <a:schemeClr val="tx1"/>
                          </a:solidFill>
                          <a:latin typeface="+mj-lt"/>
                          <a:sym typeface="Arial"/>
                        </a:rPr>
                        <a:t>Roll Number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800" b="1" u="none" strike="noStrike" cap="none" dirty="0">
                          <a:solidFill>
                            <a:schemeClr val="tx1"/>
                          </a:solidFill>
                          <a:latin typeface="+mj-lt"/>
                          <a:sym typeface="Arial"/>
                        </a:rPr>
                        <a:t>Student Name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333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u="none" strike="noStrike" cap="none" dirty="0">
                          <a:solidFill>
                            <a:schemeClr val="tx1"/>
                          </a:solidFill>
                          <a:latin typeface="+mj-lt"/>
                          <a:sym typeface="Arial"/>
                        </a:rPr>
                        <a:t>20221CCS0155 </a:t>
                      </a:r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400" b="0" u="none" strike="noStrike" cap="none" dirty="0">
                          <a:solidFill>
                            <a:schemeClr val="tx1"/>
                          </a:solidFill>
                          <a:latin typeface="+mj-lt"/>
                          <a:sym typeface="Arial"/>
                        </a:rPr>
                        <a:t>FATHIMA HIJAAB IRFAN 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384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u="none" strike="noStrike" cap="none">
                          <a:solidFill>
                            <a:schemeClr val="tx1"/>
                          </a:solidFill>
                          <a:latin typeface="+mj-lt"/>
                          <a:sym typeface="Arial"/>
                        </a:rPr>
                        <a:t>20221CCS0120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400" b="0" u="none" strike="noStrike" cap="none" dirty="0">
                          <a:solidFill>
                            <a:schemeClr val="tx1"/>
                          </a:solidFill>
                          <a:latin typeface="+mj-lt"/>
                          <a:sym typeface="Arial"/>
                        </a:rPr>
                        <a:t>AAMINA SULTAN 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099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u="none" strike="noStrike" cap="none" dirty="0">
                          <a:solidFill>
                            <a:schemeClr val="tx1"/>
                          </a:solidFill>
                          <a:latin typeface="+mj-lt"/>
                          <a:sym typeface="Arial"/>
                        </a:rPr>
                        <a:t>20221CCS0111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400" b="0" u="none" strike="noStrike" cap="none" dirty="0">
                          <a:solidFill>
                            <a:schemeClr val="tx1"/>
                          </a:solidFill>
                          <a:latin typeface="+mj-lt"/>
                          <a:sym typeface="Arial"/>
                        </a:rPr>
                        <a:t>TANISHA N </a:t>
                      </a:r>
                    </a:p>
                    <a:p>
                      <a:endParaRPr lang="en-IN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3324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+mj-lt"/>
                <a:ea typeface="Cambria" panose="02040503050406030204" pitchFamily="18" charset="0"/>
              </a:rPr>
              <a:t>Problem Statement Number: 68</a:t>
            </a:r>
            <a:endParaRPr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6C19FE-5756-BFD5-06ED-38F97D0FD68F}"/>
              </a:ext>
            </a:extLst>
          </p:cNvPr>
          <p:cNvSpPr txBox="1"/>
          <p:nvPr/>
        </p:nvSpPr>
        <p:spPr>
          <a:xfrm>
            <a:off x="812800" y="1294373"/>
            <a:ext cx="1066800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+mj-lt"/>
                <a:ea typeface="Cambria" panose="02040503050406030204" pitchFamily="18" charset="0"/>
              </a:rPr>
              <a:t>Organization: </a:t>
            </a:r>
            <a:r>
              <a:rPr lang="en-US" sz="1800" dirty="0">
                <a:latin typeface="+mj-lt"/>
                <a:ea typeface="Cambria" panose="02040503050406030204" pitchFamily="18" charset="0"/>
              </a:rPr>
              <a:t>Ministry of Power</a:t>
            </a:r>
          </a:p>
          <a:p>
            <a:endParaRPr lang="en-US" sz="1800" dirty="0">
              <a:latin typeface="+mj-lt"/>
              <a:ea typeface="Cambria" panose="02040503050406030204" pitchFamily="18" charset="0"/>
            </a:endParaRPr>
          </a:p>
          <a:p>
            <a:r>
              <a:rPr lang="en-US" sz="1800" b="1" dirty="0">
                <a:latin typeface="+mj-lt"/>
                <a:ea typeface="Cambria" panose="02040503050406030204" pitchFamily="18" charset="0"/>
              </a:rPr>
              <a:t>Technology Bucket: </a:t>
            </a:r>
            <a:r>
              <a:rPr lang="en-US" sz="1800" dirty="0">
                <a:latin typeface="+mj-lt"/>
                <a:ea typeface="Cambria" panose="02040503050406030204" pitchFamily="18" charset="0"/>
              </a:rPr>
              <a:t>Blockchain and Cybersecurity</a:t>
            </a:r>
          </a:p>
          <a:p>
            <a:endParaRPr lang="en-US" sz="1800" dirty="0">
              <a:latin typeface="+mj-lt"/>
              <a:ea typeface="Cambria" panose="02040503050406030204" pitchFamily="18" charset="0"/>
            </a:endParaRPr>
          </a:p>
          <a:p>
            <a:r>
              <a:rPr lang="en-US" sz="1800" b="1" dirty="0">
                <a:latin typeface="+mj-lt"/>
                <a:ea typeface="Cambria" panose="02040503050406030204" pitchFamily="18" charset="0"/>
              </a:rPr>
              <a:t>Category: </a:t>
            </a:r>
            <a:r>
              <a:rPr lang="en-US" sz="1800" dirty="0">
                <a:latin typeface="+mj-lt"/>
                <a:ea typeface="Cambria" panose="02040503050406030204" pitchFamily="18" charset="0"/>
              </a:rPr>
              <a:t>Software</a:t>
            </a:r>
          </a:p>
          <a:p>
            <a:endParaRPr lang="en-US" sz="1800" b="1" dirty="0">
              <a:latin typeface="+mj-lt"/>
              <a:ea typeface="Cambria" panose="02040503050406030204" pitchFamily="18" charset="0"/>
            </a:endParaRPr>
          </a:p>
          <a:p>
            <a:r>
              <a:rPr lang="en-US" sz="1800" b="1" dirty="0">
                <a:latin typeface="+mj-lt"/>
                <a:ea typeface="Cambria" panose="02040503050406030204" pitchFamily="18" charset="0"/>
              </a:rPr>
              <a:t>Problem Description: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The rapid growth of mobile applications has significantly increased the risk of cyber threats, as malicious applications can easily disguise themselves and remain undetected on smartphones</a:t>
            </a:r>
          </a:p>
          <a:p>
            <a:endParaRPr lang="en-US" sz="16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Users often accumulate unused applications without realizing the potential security vulnerabilities they pose.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Current detection methods are insufficient in identifying hidden malicious activities such as suspicious network communications, unauthorized data transfers, and abnormal background processes.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Therefore, there is a need to develop a robust mobile application that leverages open-source intelligence and threat feeds to analyze, identify, and mitigate malicious mobile applications, ensuring enhanced security and user protection.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+mj-lt"/>
                <a:ea typeface="Cambria" panose="02040503050406030204" pitchFamily="18" charset="0"/>
              </a:rPr>
              <a:t>Content</a:t>
            </a:r>
            <a:endParaRPr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+mj-lt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+mj-lt"/>
                <a:ea typeface="Cambria" panose="02040503050406030204" pitchFamily="18" charset="0"/>
              </a:rPr>
              <a:t>Git</a:t>
            </a:r>
            <a:r>
              <a:rPr lang="en-US" dirty="0">
                <a:latin typeface="+mj-lt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+mj-lt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+mj-lt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+mj-lt"/>
                <a:ea typeface="Cambria" panose="02040503050406030204" pitchFamily="18" charset="0"/>
              </a:rPr>
              <a:t>Technology Stack Components: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b="1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11FA295-5E92-B3B9-1060-0036AC806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1997839"/>
            <a:ext cx="560121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Frontend: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React Native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Backend: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Python</a:t>
            </a: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Database: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MongoDB Atlas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Cybersecurity Tools: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MobSF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Scapy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MISP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Deployment: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GitHub Actions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28A440B2-4A95-6F40-7270-15F2EDFB7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DDE483F3-827D-D09A-604E-63426DC236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sz="2000" b="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 and Prevention of Malware in Android Mobile Devices: A Literature Review</a:t>
            </a:r>
            <a:endParaRPr sz="2000" b="0" i="1" dirty="0">
              <a:solidFill>
                <a:schemeClr val="tx1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E64D17-271B-C4A3-CB6A-A5D746F7D25B}"/>
              </a:ext>
            </a:extLst>
          </p:cNvPr>
          <p:cNvSpPr txBox="1"/>
          <p:nvPr/>
        </p:nvSpPr>
        <p:spPr>
          <a:xfrm>
            <a:off x="812800" y="1098356"/>
            <a:ext cx="10668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+mj-lt"/>
              </a:rPr>
              <a:t>Related work [1]</a:t>
            </a:r>
          </a:p>
          <a:p>
            <a:r>
              <a:rPr lang="en-IN" sz="1600" b="1" dirty="0"/>
              <a:t>Current Scenario:</a:t>
            </a:r>
          </a:p>
          <a:p>
            <a:r>
              <a:rPr lang="en-IN" sz="1600" dirty="0"/>
              <a:t>Mobile devices, particularly Android, dominate the market with a vast app ecosystem that cybercriminals exploit via third-party stores and platform fragmentation.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60% of security flaws are found on the client (mobile device) side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Android accounts for 43% of client-side vulnerabilities, compared to iOS with 38%.</a:t>
            </a:r>
          </a:p>
          <a:p>
            <a:endParaRPr lang="en-IN" sz="1600" dirty="0"/>
          </a:p>
          <a:p>
            <a:r>
              <a:rPr lang="en-IN" sz="1600" dirty="0"/>
              <a:t>Common malware types: Trojans, ransomware, spyware, adware, keyloggers, and botnets that threaten user privacy, data, and finances. </a:t>
            </a:r>
          </a:p>
          <a:p>
            <a:r>
              <a:rPr lang="en-IN" sz="1600" dirty="0"/>
              <a:t>Major security risks: Improper permissions, insecure storage, insecure communication, weak authentication, code tampering</a:t>
            </a:r>
          </a:p>
          <a:p>
            <a:br>
              <a:rPr lang="en-US" sz="1600" b="1" dirty="0"/>
            </a:br>
            <a:endParaRPr lang="en-IN" sz="1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66B731-C88B-B566-20C5-B2C573D1E573}"/>
              </a:ext>
            </a:extLst>
          </p:cNvPr>
          <p:cNvSpPr txBox="1"/>
          <p:nvPr/>
        </p:nvSpPr>
        <p:spPr>
          <a:xfrm>
            <a:off x="6486802" y="3968192"/>
            <a:ext cx="513963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Drawbacks: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Static analysis is limited by obfuscation, polymorphism, and zero-day threats.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Dynamic analysis is resource-heavy and may miss some malware.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Machine learning needs large data, is vulnerable to attacks, and is resource-intensive.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Hybrid methods add complexity and resource use.</a:t>
            </a: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FB07B-20EF-9E14-1911-616067B04A57}"/>
              </a:ext>
            </a:extLst>
          </p:cNvPr>
          <p:cNvSpPr txBox="1"/>
          <p:nvPr/>
        </p:nvSpPr>
        <p:spPr>
          <a:xfrm>
            <a:off x="812799" y="3736427"/>
            <a:ext cx="5606662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/>
          </a:p>
          <a:p>
            <a:r>
              <a:rPr lang="en-IN" sz="1600" b="1" dirty="0"/>
              <a:t>Analysis Methods: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TAN-Based Hybrid Model for Android Malware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Static and Dynamic Analysis of Android Malware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Anomaly Detection Using One-Class K-Nearest </a:t>
            </a:r>
            <a:r>
              <a:rPr lang="en-IN" sz="1600" dirty="0" err="1"/>
              <a:t>Neighbors</a:t>
            </a:r>
            <a:r>
              <a:rPr lang="en-IN" sz="1600" dirty="0"/>
              <a:t> (OC-KNN)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SCANDAL: Static Analyzer for Privacy Leaks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DroidData</a:t>
            </a:r>
            <a:r>
              <a:rPr lang="en-IN" sz="1600" dirty="0"/>
              <a:t>: Static and Dynamic Data Transfer Monitoring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2058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C04058-73C4-B511-5A6C-69635CD31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51893"/>
            <a:ext cx="4390680" cy="38954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276675-4589-8A84-E5BA-DA58C98C2873}"/>
              </a:ext>
            </a:extLst>
          </p:cNvPr>
          <p:cNvSpPr txBox="1"/>
          <p:nvPr/>
        </p:nvSpPr>
        <p:spPr>
          <a:xfrm>
            <a:off x="5570220" y="1103253"/>
            <a:ext cx="629869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+mj-lt"/>
              </a:rPr>
              <a:t>Goal:</a:t>
            </a:r>
            <a:endParaRPr lang="en-US" sz="1600" dirty="0">
              <a:latin typeface="+mj-lt"/>
            </a:endParaRPr>
          </a:p>
          <a:p>
            <a:pPr lvl="1"/>
            <a:r>
              <a:rPr lang="en-US" sz="1600" dirty="0">
                <a:latin typeface="+mj-lt"/>
              </a:rPr>
              <a:t>Detect Android malware using a </a:t>
            </a:r>
            <a:r>
              <a:rPr lang="en-US" sz="1600" b="1" dirty="0">
                <a:latin typeface="+mj-lt"/>
              </a:rPr>
              <a:t>lightweight approach</a:t>
            </a:r>
            <a:r>
              <a:rPr lang="en-US" sz="1600" dirty="0">
                <a:latin typeface="+mj-lt"/>
              </a:rPr>
              <a:t>.</a:t>
            </a:r>
          </a:p>
          <a:p>
            <a:pPr lvl="1"/>
            <a:r>
              <a:rPr lang="en-US" sz="1600" dirty="0">
                <a:latin typeface="+mj-lt"/>
              </a:rPr>
              <a:t>Combine </a:t>
            </a:r>
            <a:r>
              <a:rPr lang="en-US" sz="1600" b="1" dirty="0">
                <a:latin typeface="+mj-lt"/>
              </a:rPr>
              <a:t>permissions requested by apps</a:t>
            </a:r>
            <a:r>
              <a:rPr lang="en-US" sz="1600" dirty="0">
                <a:latin typeface="+mj-lt"/>
              </a:rPr>
              <a:t> (static analysis) with </a:t>
            </a:r>
            <a:r>
              <a:rPr lang="en-US" sz="1600" b="1" dirty="0">
                <a:latin typeface="+mj-lt"/>
              </a:rPr>
              <a:t>network traffic features</a:t>
            </a:r>
            <a:r>
              <a:rPr lang="en-US" sz="1600" dirty="0">
                <a:latin typeface="+mj-lt"/>
              </a:rPr>
              <a:t> (dynamic analysis).</a:t>
            </a:r>
          </a:p>
          <a:p>
            <a:pPr lvl="1"/>
            <a:r>
              <a:rPr lang="en-US" sz="1600" dirty="0">
                <a:latin typeface="+mj-lt"/>
              </a:rPr>
              <a:t>Use </a:t>
            </a:r>
            <a:r>
              <a:rPr lang="en-US" sz="1600" b="1" dirty="0">
                <a:latin typeface="+mj-lt"/>
              </a:rPr>
              <a:t>machine learning models</a:t>
            </a:r>
            <a:r>
              <a:rPr lang="en-US" sz="1600" dirty="0">
                <a:latin typeface="+mj-lt"/>
              </a:rPr>
              <a:t> (SVM, Decision Tree) for classification.</a:t>
            </a:r>
          </a:p>
          <a:p>
            <a:pPr lvl="1"/>
            <a:endParaRPr lang="en-US" sz="1600" dirty="0">
              <a:latin typeface="+mj-lt"/>
            </a:endParaRPr>
          </a:p>
          <a:p>
            <a:r>
              <a:rPr lang="en-US" sz="1600" b="1" dirty="0">
                <a:latin typeface="+mj-lt"/>
              </a:rPr>
              <a:t>Methodology:</a:t>
            </a:r>
            <a:endParaRPr lang="en-US" sz="1600" dirty="0">
              <a:latin typeface="+mj-lt"/>
            </a:endParaRPr>
          </a:p>
          <a:p>
            <a:pPr lvl="1"/>
            <a:r>
              <a:rPr lang="en-US" sz="1600" dirty="0">
                <a:latin typeface="+mj-lt"/>
              </a:rPr>
              <a:t>Collected Android apps (both malware and benign).</a:t>
            </a:r>
          </a:p>
          <a:p>
            <a:pPr lvl="1"/>
            <a:r>
              <a:rPr lang="en-US" sz="1600" dirty="0">
                <a:latin typeface="+mj-lt"/>
              </a:rPr>
              <a:t>Extracted permissions from the app manifest → converted to binary vectors (1/0).</a:t>
            </a:r>
          </a:p>
          <a:p>
            <a:pPr lvl="1"/>
            <a:r>
              <a:rPr lang="en-US" sz="1600" dirty="0">
                <a:latin typeface="+mj-lt"/>
              </a:rPr>
              <a:t>Monitored basic network activity (packet counts, flow stats).</a:t>
            </a:r>
          </a:p>
          <a:p>
            <a:pPr lvl="1"/>
            <a:r>
              <a:rPr lang="en-US" sz="1600" dirty="0">
                <a:latin typeface="+mj-lt"/>
              </a:rPr>
              <a:t>Combined static and network features.</a:t>
            </a:r>
          </a:p>
          <a:p>
            <a:pPr lvl="1"/>
            <a:r>
              <a:rPr lang="en-US" sz="1600" dirty="0">
                <a:latin typeface="+mj-lt"/>
              </a:rPr>
              <a:t>Trained ML classifiers to predict if an app is malicious or safe.</a:t>
            </a:r>
          </a:p>
          <a:p>
            <a:pPr lvl="1"/>
            <a:endParaRPr lang="en-US" sz="1600" dirty="0">
              <a:latin typeface="+mj-lt"/>
            </a:endParaRPr>
          </a:p>
          <a:p>
            <a:r>
              <a:rPr lang="en-US" sz="1600" b="1" dirty="0">
                <a:latin typeface="+mj-lt"/>
              </a:rPr>
              <a:t>Pros:</a:t>
            </a:r>
            <a:endParaRPr lang="en-US" sz="1600" dirty="0">
              <a:latin typeface="+mj-lt"/>
            </a:endParaRPr>
          </a:p>
          <a:p>
            <a:pPr lvl="1"/>
            <a:r>
              <a:rPr lang="en-US" sz="1600" dirty="0">
                <a:latin typeface="+mj-lt"/>
              </a:rPr>
              <a:t>Simple and lightweight design.</a:t>
            </a:r>
          </a:p>
          <a:p>
            <a:pPr lvl="1"/>
            <a:r>
              <a:rPr lang="en-US" sz="1600" dirty="0">
                <a:latin typeface="+mj-lt"/>
              </a:rPr>
              <a:t>Easy to implement for research purposes.</a:t>
            </a:r>
          </a:p>
          <a:p>
            <a:pPr lvl="1"/>
            <a:r>
              <a:rPr lang="en-US" sz="1600" dirty="0">
                <a:latin typeface="+mj-lt"/>
              </a:rPr>
              <a:t>One of the early works to mix static (permissions) with network features.</a:t>
            </a:r>
          </a:p>
          <a:p>
            <a:endParaRPr lang="en-IN" sz="16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D18CD3-0358-1F72-6199-7BC43A24413A}"/>
              </a:ext>
            </a:extLst>
          </p:cNvPr>
          <p:cNvSpPr txBox="1"/>
          <p:nvPr/>
        </p:nvSpPr>
        <p:spPr>
          <a:xfrm>
            <a:off x="749808" y="322490"/>
            <a:ext cx="10872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i="1" dirty="0"/>
              <a:t>Android Malicious Application Detection Using Permission Vector and Network Traffic Analysis</a:t>
            </a:r>
            <a:endParaRPr lang="en-IN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0F908F-AA4B-F2B6-97A3-CEEA85F185B0}"/>
              </a:ext>
            </a:extLst>
          </p:cNvPr>
          <p:cNvSpPr txBox="1"/>
          <p:nvPr/>
        </p:nvSpPr>
        <p:spPr>
          <a:xfrm>
            <a:off x="749808" y="1125974"/>
            <a:ext cx="201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latin typeface="+mj-lt"/>
              </a:rPr>
              <a:t>Related work [2] </a:t>
            </a:r>
          </a:p>
        </p:txBody>
      </p:sp>
    </p:spTree>
    <p:extLst>
      <p:ext uri="{BB962C8B-B14F-4D97-AF65-F5344CB8AC3E}">
        <p14:creationId xmlns:p14="http://schemas.microsoft.com/office/powerpoint/2010/main" val="573636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3E7876-FD42-C75F-FC16-16822749F7ED}"/>
              </a:ext>
            </a:extLst>
          </p:cNvPr>
          <p:cNvSpPr txBox="1"/>
          <p:nvPr/>
        </p:nvSpPr>
        <p:spPr>
          <a:xfrm>
            <a:off x="632460" y="268742"/>
            <a:ext cx="10927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/>
              <a:t>Android Malicious Application Detection Using Permission Vector and Network Traffic Analysis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ED6F3D-1C08-152A-275B-E738C1751AFA}"/>
              </a:ext>
            </a:extLst>
          </p:cNvPr>
          <p:cNvSpPr txBox="1"/>
          <p:nvPr/>
        </p:nvSpPr>
        <p:spPr>
          <a:xfrm>
            <a:off x="825246" y="1206330"/>
            <a:ext cx="489889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+mj-lt"/>
              </a:rPr>
              <a:t>Cons:</a:t>
            </a:r>
          </a:p>
          <a:p>
            <a:pPr>
              <a:buNone/>
            </a:pPr>
            <a:endParaRPr lang="en-US" sz="18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Relies too much on permissions → not reliable (benign apps may also request sensitive permissions).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Network analysis was </a:t>
            </a:r>
            <a:r>
              <a:rPr lang="en-US" sz="1800" b="1" dirty="0">
                <a:latin typeface="+mj-lt"/>
              </a:rPr>
              <a:t>very shallow</a:t>
            </a:r>
            <a:r>
              <a:rPr lang="en-US" sz="1800" dirty="0">
                <a:latin typeface="+mj-lt"/>
              </a:rPr>
              <a:t>, only basic stats (no malicious domain or flow inspection).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Small, outdated dataset → lacks robustness against modern malware.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No dynamic/runtime analysis → misses behavior triggered during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No real-world deployment → purely academic, lab-level experiment.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1C9325-DFF6-854D-D317-1B2CD15A80A1}"/>
              </a:ext>
            </a:extLst>
          </p:cNvPr>
          <p:cNvSpPr txBox="1"/>
          <p:nvPr/>
        </p:nvSpPr>
        <p:spPr>
          <a:xfrm>
            <a:off x="6309360" y="1283494"/>
            <a:ext cx="54041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+mj-lt"/>
              </a:rPr>
              <a:t>How Our Project Improves: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dirty="0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+mj-lt"/>
              </a:rPr>
              <a:t>Hybrid approach</a:t>
            </a:r>
            <a:r>
              <a:rPr lang="en-IN" sz="1800" dirty="0">
                <a:latin typeface="+mj-lt"/>
              </a:rPr>
              <a:t>: Static (</a:t>
            </a:r>
            <a:r>
              <a:rPr lang="en-IN" sz="1800" dirty="0" err="1">
                <a:latin typeface="+mj-lt"/>
              </a:rPr>
              <a:t>MobSF</a:t>
            </a:r>
            <a:r>
              <a:rPr lang="en-IN" sz="1800" dirty="0">
                <a:latin typeface="+mj-lt"/>
              </a:rPr>
              <a:t>) + Dynamic (runtime monitoring) + Network (</a:t>
            </a:r>
            <a:r>
              <a:rPr lang="en-IN" sz="1800" dirty="0" err="1">
                <a:latin typeface="+mj-lt"/>
              </a:rPr>
              <a:t>Scapy</a:t>
            </a:r>
            <a:r>
              <a:rPr lang="en-IN" sz="1800" dirty="0">
                <a:latin typeface="+mj-lt"/>
              </a:rPr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Uses </a:t>
            </a:r>
            <a:r>
              <a:rPr lang="en-IN" sz="1800" b="1" dirty="0">
                <a:latin typeface="+mj-lt"/>
              </a:rPr>
              <a:t>threat intelligence feeds (MISP)</a:t>
            </a:r>
            <a:r>
              <a:rPr lang="en-IN" sz="1800" dirty="0">
                <a:latin typeface="+mj-lt"/>
              </a:rPr>
              <a:t> to detect new malware variants.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+mj-lt"/>
              </a:rPr>
              <a:t>Single-family focus</a:t>
            </a:r>
            <a:r>
              <a:rPr lang="en-IN" sz="1800" dirty="0">
                <a:latin typeface="+mj-lt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(e.g., </a:t>
            </a:r>
            <a:r>
              <a:rPr lang="en-IN" sz="1800" dirty="0" err="1">
                <a:latin typeface="+mj-lt"/>
              </a:rPr>
              <a:t>BankBot</a:t>
            </a:r>
            <a:r>
              <a:rPr lang="en-IN" sz="1800" dirty="0">
                <a:latin typeface="+mj-lt"/>
              </a:rPr>
              <a:t> trojan) → more precise and explainable detection.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+mj-lt"/>
              </a:rPr>
              <a:t>Deployment-ready system</a:t>
            </a:r>
            <a:r>
              <a:rPr lang="en-IN" sz="1800" dirty="0">
                <a:latin typeface="+mj-lt"/>
              </a:rPr>
              <a:t>: React Native (frontend) + </a:t>
            </a:r>
            <a:r>
              <a:rPr lang="en-IN" sz="1800" dirty="0" err="1">
                <a:latin typeface="+mj-lt"/>
              </a:rPr>
              <a:t>FastAPI</a:t>
            </a:r>
            <a:r>
              <a:rPr lang="en-IN" sz="1800" dirty="0">
                <a:latin typeface="+mj-lt"/>
              </a:rPr>
              <a:t> (backend) + MongoDB Atlas.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Provides </a:t>
            </a:r>
            <a:r>
              <a:rPr lang="en-IN" sz="1800" b="1" dirty="0">
                <a:latin typeface="+mj-lt"/>
              </a:rPr>
              <a:t>user alerts and transparency</a:t>
            </a:r>
            <a:r>
              <a:rPr lang="en-IN" sz="1800" dirty="0">
                <a:latin typeface="+mj-lt"/>
              </a:rPr>
              <a:t>, showing why an app is flagged.</a:t>
            </a:r>
          </a:p>
        </p:txBody>
      </p:sp>
    </p:spTree>
    <p:extLst>
      <p:ext uri="{BB962C8B-B14F-4D97-AF65-F5344CB8AC3E}">
        <p14:creationId xmlns:p14="http://schemas.microsoft.com/office/powerpoint/2010/main" val="498444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+mj-lt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+mj-lt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+mj-lt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Cambria" panose="02040503050406030204" pitchFamily="18" charset="0"/>
              </a:rPr>
              <a:t> Link : https://github.com/fathima524/MaliciousApp-Detector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+mj-lt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+mj-lt"/>
                <a:ea typeface="Cambria" panose="02040503050406030204" pitchFamily="18" charset="0"/>
              </a:rPr>
              <a:t>(contd...)</a:t>
            </a:r>
            <a:endParaRPr lang="en-US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4874768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sz="2000" b="1" dirty="0">
                <a:latin typeface="+mj-lt"/>
              </a:rPr>
              <a:t>Software Requirements:</a:t>
            </a:r>
          </a:p>
          <a:p>
            <a:endParaRPr lang="en-IN" sz="1800" b="1" dirty="0">
              <a:latin typeface="+mj-lt"/>
            </a:endParaRPr>
          </a:p>
          <a:p>
            <a:r>
              <a:rPr lang="en-IN" sz="1800" dirty="0">
                <a:latin typeface="+mj-lt"/>
              </a:rPr>
              <a:t>OS: Windows / Linux / macOS</a:t>
            </a:r>
          </a:p>
          <a:p>
            <a:endParaRPr lang="en-IN" sz="1800" dirty="0">
              <a:latin typeface="+mj-lt"/>
            </a:endParaRPr>
          </a:p>
          <a:p>
            <a:r>
              <a:rPr lang="en-IN" sz="1800" dirty="0">
                <a:latin typeface="+mj-lt"/>
              </a:rPr>
              <a:t>React Native (Frontend)</a:t>
            </a:r>
          </a:p>
          <a:p>
            <a:endParaRPr lang="en-IN" sz="1800" dirty="0">
              <a:latin typeface="+mj-lt"/>
            </a:endParaRPr>
          </a:p>
          <a:p>
            <a:r>
              <a:rPr lang="en-IN" sz="1800" dirty="0" err="1">
                <a:latin typeface="+mj-lt"/>
              </a:rPr>
              <a:t>FastAPI</a:t>
            </a:r>
            <a:r>
              <a:rPr lang="en-IN" sz="1800" dirty="0">
                <a:latin typeface="+mj-lt"/>
              </a:rPr>
              <a:t> – Python (Backend)</a:t>
            </a:r>
          </a:p>
          <a:p>
            <a:endParaRPr lang="en-IN" sz="1800" dirty="0">
              <a:latin typeface="+mj-lt"/>
            </a:endParaRPr>
          </a:p>
          <a:p>
            <a:r>
              <a:rPr lang="en-IN" sz="1800" dirty="0">
                <a:latin typeface="+mj-lt"/>
              </a:rPr>
              <a:t>MongoDB Atlas (Database)</a:t>
            </a:r>
          </a:p>
          <a:p>
            <a:endParaRPr lang="en-IN" sz="1800" dirty="0">
              <a:latin typeface="+mj-lt"/>
            </a:endParaRPr>
          </a:p>
          <a:p>
            <a:r>
              <a:rPr lang="en-IN" sz="1800" dirty="0">
                <a:latin typeface="+mj-lt"/>
              </a:rPr>
              <a:t>GitHub (Version Control &amp; Deployment)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48B8B4-FBBF-2BE5-CFB5-AD9103A77CB1}"/>
              </a:ext>
            </a:extLst>
          </p:cNvPr>
          <p:cNvSpPr txBox="1"/>
          <p:nvPr/>
        </p:nvSpPr>
        <p:spPr>
          <a:xfrm>
            <a:off x="5687568" y="1192304"/>
            <a:ext cx="5291326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+mj-lt"/>
              </a:rPr>
              <a:t>Hardware Requirements:</a:t>
            </a:r>
          </a:p>
          <a:p>
            <a:pPr>
              <a:buNone/>
            </a:pPr>
            <a:endParaRPr lang="en-IN" sz="20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Processor: Intel i5 or higher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8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RAM: 8 GB (min)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8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Storage: 256 GB SSD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8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Smartphone (Android/iOS) for testing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+mj-lt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+mj-lt"/>
                <a:ea typeface="Cambria" panose="02040503050406030204" pitchFamily="18" charset="0"/>
              </a:rPr>
              <a:t>(contd...)</a:t>
            </a:r>
            <a:endParaRPr lang="en-US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8EB101-768D-B980-37E8-F32604D8BD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279573"/>
            <a:ext cx="10667999" cy="3470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+mj-lt"/>
              </a:rPr>
              <a:t>Smartphone users often keep unused apps, which may hide malicious activities.</a:t>
            </a:r>
          </a:p>
          <a:p>
            <a:endParaRPr lang="en-US" sz="1800" dirty="0">
              <a:latin typeface="+mj-lt"/>
            </a:endParaRPr>
          </a:p>
          <a:p>
            <a:r>
              <a:rPr lang="en-US" sz="1800" dirty="0">
                <a:latin typeface="+mj-lt"/>
              </a:rPr>
              <a:t>Malicious apps can bypass store checks and remain undetected.</a:t>
            </a:r>
          </a:p>
          <a:p>
            <a:endParaRPr lang="en-US" sz="1800" dirty="0">
              <a:latin typeface="+mj-lt"/>
            </a:endParaRPr>
          </a:p>
          <a:p>
            <a:r>
              <a:rPr lang="en-US" sz="1800" dirty="0">
                <a:latin typeface="+mj-lt"/>
              </a:rPr>
              <a:t>Manual detection is difficult as threats run in background processes and network traffic.</a:t>
            </a:r>
          </a:p>
          <a:p>
            <a:endParaRPr lang="en-US" sz="1800" dirty="0">
              <a:latin typeface="+mj-lt"/>
            </a:endParaRPr>
          </a:p>
          <a:p>
            <a:r>
              <a:rPr lang="en-US" sz="1800" dirty="0">
                <a:latin typeface="+mj-lt"/>
              </a:rPr>
              <a:t>Users need an automated tool to identify suspicious apps and connections.</a:t>
            </a:r>
          </a:p>
          <a:p>
            <a:endParaRPr lang="en-US" sz="1800" dirty="0">
              <a:latin typeface="+mj-lt"/>
            </a:endParaRPr>
          </a:p>
          <a:p>
            <a:r>
              <a:rPr lang="en-US" sz="1800" dirty="0">
                <a:latin typeface="+mj-lt"/>
              </a:rPr>
              <a:t>A security solution can enhance data protection, privacy, and device safety.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DDACFEA3-1C7C-70FA-970E-E0B59E7DD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02014B25-94E8-EEFA-1C6D-C2A3F03EC9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+mj-lt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+mj-lt"/>
                <a:ea typeface="Cambria" panose="02040503050406030204" pitchFamily="18" charset="0"/>
              </a:rPr>
              <a:t>(contd...)</a:t>
            </a:r>
            <a:endParaRPr lang="en-US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B453F6-0CA7-4A36-AA9A-DD841B4170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1" y="1450933"/>
            <a:ext cx="10667999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+mj-lt"/>
              </a:rPr>
              <a:t>Proposed Solution:</a:t>
            </a: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 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+mj-lt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>
                <a:latin typeface="+mj-lt"/>
              </a:rPr>
              <a:t>Our mobile app analyzes app behavior and monitors network traffic while referencing threat intelligence feeds to identify potentially malicious applications. 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1800" dirty="0">
              <a:latin typeface="+mj-lt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>
                <a:latin typeface="+mj-lt"/>
              </a:rPr>
              <a:t>It aims to detect suspicious activities like unauthorized data transfers and unusual background processes.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1800" dirty="0">
              <a:latin typeface="+mj-lt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>
                <a:latin typeface="+mj-lt"/>
              </a:rPr>
              <a:t>By providing insights and alerts, the app helps users stay informed about the security status of their device</a:t>
            </a:r>
            <a:r>
              <a:rPr lang="en-US" sz="2000" dirty="0">
                <a:latin typeface="+mj-l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84238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+mj-lt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+mj-lt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82A713-0141-6B8B-A854-A06A71B286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11" b="29947"/>
          <a:stretch>
            <a:fillRect/>
          </a:stretch>
        </p:blipFill>
        <p:spPr>
          <a:xfrm>
            <a:off x="812801" y="1248229"/>
            <a:ext cx="10668000" cy="473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+mj-lt"/>
                <a:ea typeface="Cambria" panose="02040503050406030204" pitchFamily="18" charset="0"/>
              </a:rPr>
              <a:t>References (IEEE Paper format)</a:t>
            </a:r>
            <a:endParaRPr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5080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09600" indent="-457200">
              <a:spcBef>
                <a:spcPts val="0"/>
              </a:spcBef>
              <a:buFont typeface="+mj-lt"/>
              <a:buAutoNum type="arabicPeriod"/>
            </a:pPr>
            <a:endParaRPr lang="en-US" sz="1600" dirty="0">
              <a:latin typeface="+mj-lt"/>
              <a:ea typeface="Cambria" panose="02040503050406030204" pitchFamily="18" charset="0"/>
            </a:endParaRPr>
          </a:p>
          <a:p>
            <a:pPr marL="952500" lvl="1" indent="-342900">
              <a:spcBef>
                <a:spcPts val="0"/>
              </a:spcBef>
              <a:buFont typeface="+mj-lt"/>
              <a:buAutoNum type="arabicPeriod"/>
            </a:pPr>
            <a:endParaRPr lang="en-US" sz="1600" dirty="0">
              <a:latin typeface="+mj-lt"/>
            </a:endParaRPr>
          </a:p>
          <a:p>
            <a:pPr marL="952500" lvl="1" indent="-342900">
              <a:spcBef>
                <a:spcPts val="0"/>
              </a:spcBef>
              <a:buFont typeface="+mj-lt"/>
              <a:buAutoNum type="arabicPeriod"/>
            </a:pPr>
            <a:r>
              <a:rPr lang="en-IN" sz="1600" dirty="0">
                <a:latin typeface="+mj-lt"/>
              </a:rPr>
              <a:t>J. </a:t>
            </a:r>
            <a:r>
              <a:rPr lang="en-IN" sz="1600" dirty="0" err="1">
                <a:latin typeface="+mj-lt"/>
              </a:rPr>
              <a:t>Keteku</a:t>
            </a:r>
            <a:r>
              <a:rPr lang="en-IN" sz="1600" dirty="0">
                <a:latin typeface="+mj-lt"/>
              </a:rPr>
              <a:t>, G. O. </a:t>
            </a:r>
            <a:r>
              <a:rPr lang="en-IN" sz="1600" dirty="0" err="1">
                <a:latin typeface="+mj-lt"/>
              </a:rPr>
              <a:t>Dameh</a:t>
            </a:r>
            <a:r>
              <a:rPr lang="en-IN" sz="1600" dirty="0">
                <a:latin typeface="+mj-lt"/>
              </a:rPr>
              <a:t>, S. A. Mante, T. K. Mensah, S. L. Amartey, and J.-B. </a:t>
            </a:r>
            <a:r>
              <a:rPr lang="en-IN" sz="1600" dirty="0" err="1">
                <a:latin typeface="+mj-lt"/>
              </a:rPr>
              <a:t>Diekuu</a:t>
            </a:r>
            <a:r>
              <a:rPr lang="en-IN" sz="1600" dirty="0">
                <a:latin typeface="+mj-lt"/>
              </a:rPr>
              <a:t>, "Detection and Prevention of Malware in Android Mobile Devices: A Literature Review," </a:t>
            </a:r>
            <a:r>
              <a:rPr lang="en-IN" sz="1600" i="1" dirty="0">
                <a:latin typeface="+mj-lt"/>
              </a:rPr>
              <a:t>International Journal of Intelligence Science</a:t>
            </a:r>
            <a:r>
              <a:rPr lang="en-IN" sz="1600" dirty="0">
                <a:latin typeface="+mj-lt"/>
              </a:rPr>
              <a:t>, vol. 14, no. 4, Oct. 2024, </a:t>
            </a:r>
            <a:r>
              <a:rPr lang="en-IN" sz="1600" dirty="0" err="1">
                <a:latin typeface="+mj-lt"/>
              </a:rPr>
              <a:t>doi</a:t>
            </a:r>
            <a:r>
              <a:rPr lang="en-IN" sz="1600" dirty="0">
                <a:latin typeface="+mj-lt"/>
              </a:rPr>
              <a:t>: 10.4236/ijis.2024.144005.</a:t>
            </a:r>
          </a:p>
          <a:p>
            <a:pPr marL="952500" lvl="1" indent="-342900">
              <a:spcBef>
                <a:spcPts val="0"/>
              </a:spcBef>
              <a:buFont typeface="+mj-lt"/>
              <a:buAutoNum type="arabicPeriod"/>
            </a:pPr>
            <a:endParaRPr lang="en-IN" sz="1600" dirty="0">
              <a:latin typeface="+mj-lt"/>
            </a:endParaRPr>
          </a:p>
          <a:p>
            <a:pPr marL="952500" lvl="1" indent="-342900">
              <a:spcBef>
                <a:spcPts val="0"/>
              </a:spcBef>
              <a:buFont typeface="+mj-lt"/>
              <a:buAutoNum type="arabicPeriod"/>
            </a:pPr>
            <a:endParaRPr lang="en-IN" sz="1600" dirty="0">
              <a:latin typeface="+mj-lt"/>
            </a:endParaRPr>
          </a:p>
          <a:p>
            <a:pPr marL="952500" lvl="1" indent="-342900">
              <a:spcBef>
                <a:spcPts val="0"/>
              </a:spcBef>
              <a:buFont typeface="+mj-lt"/>
              <a:buAutoNum type="arabicPeriod"/>
            </a:pPr>
            <a:r>
              <a:rPr lang="en-IN" sz="1600" dirty="0"/>
              <a:t>S. </a:t>
            </a:r>
            <a:r>
              <a:rPr lang="en-IN" sz="1600" dirty="0" err="1"/>
              <a:t>Kandukuru</a:t>
            </a:r>
            <a:r>
              <a:rPr lang="en-IN" sz="1600" dirty="0"/>
              <a:t> and R. M. Sharma, </a:t>
            </a:r>
            <a:r>
              <a:rPr lang="en-IN" sz="1600" i="1" dirty="0"/>
              <a:t>"Android Malicious Application Detection Using Permission Vector and Network Traffic Analysis,"</a:t>
            </a:r>
            <a:r>
              <a:rPr lang="en-IN" sz="1600" dirty="0"/>
              <a:t> 2017 2nd International Conference for Convergence in Technology (I2CT), Pune, India, 2017, pp. 221-226, </a:t>
            </a:r>
            <a:r>
              <a:rPr lang="en-IN" sz="1600" dirty="0" err="1"/>
              <a:t>doi</a:t>
            </a:r>
            <a:r>
              <a:rPr lang="en-IN" sz="1600" dirty="0"/>
              <a:t>: 10.1109/I2CT.2017.8226303.</a:t>
            </a:r>
          </a:p>
          <a:p>
            <a:pPr marL="952500" lvl="1" indent="-342900">
              <a:spcBef>
                <a:spcPts val="0"/>
              </a:spcBef>
              <a:buFont typeface="+mj-lt"/>
              <a:buAutoNum type="arabicPeriod"/>
            </a:pPr>
            <a:endParaRPr lang="en-IN" sz="1600" dirty="0">
              <a:latin typeface="+mj-lt"/>
            </a:endParaRPr>
          </a:p>
          <a:p>
            <a:pPr marL="952500" lvl="1" indent="-342900">
              <a:spcBef>
                <a:spcPts val="0"/>
              </a:spcBef>
              <a:buFont typeface="+mj-lt"/>
              <a:buAutoNum type="arabicPeriod"/>
            </a:pPr>
            <a:endParaRPr lang="en-US" sz="1600" dirty="0">
              <a:latin typeface="+mj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1167</Words>
  <Application>Microsoft Office PowerPoint</Application>
  <PresentationFormat>Widescreen</PresentationFormat>
  <Paragraphs>177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Verdana</vt:lpstr>
      <vt:lpstr>Wingdings</vt:lpstr>
      <vt:lpstr>Bioinformatics</vt:lpstr>
      <vt:lpstr>Analysis and Identification of Malicious Mobile Applications</vt:lpstr>
      <vt:lpstr>Problem Statement Number: 68</vt:lpstr>
      <vt:lpstr>Content</vt:lpstr>
      <vt:lpstr>Analysis of Problem Statement</vt:lpstr>
      <vt:lpstr>Detection and Prevention of Malware in Android Mobile Devices: A Literature Review</vt:lpstr>
      <vt:lpstr>PowerPoint Presentation</vt:lpstr>
      <vt:lpstr>PowerPoint Presentation</vt:lpstr>
      <vt:lpstr>Github Link</vt:lpstr>
      <vt:lpstr>Analysis of Problem Statement (contd...)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Tanisha N</cp:lastModifiedBy>
  <cp:revision>44</cp:revision>
  <dcterms:modified xsi:type="dcterms:W3CDTF">2025-08-20T08:50:08Z</dcterms:modified>
</cp:coreProperties>
</file>